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92f2fc2b394b27" /><Relationship Type="http://schemas.openxmlformats.org/officeDocument/2006/relationships/extended-properties" Target="/docProps/app.xml" Id="R38b77d7545fc44f2" /><Relationship Type="http://schemas.openxmlformats.org/officeDocument/2006/relationships/officeDocument" Target="/ppt/presentation.xml" Id="R7e06198ed64949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69157d8bf44f7e"/>
  </p:sldMasterIdLst>
  <p:notesMasterIdLst>
    <p:notesMasterId xmlns:r="http://schemas.openxmlformats.org/officeDocument/2006/relationships" r:id="Re32e7b365ab14db7"/>
  </p:notesMasterIdLst>
  <p:sldIdLst>
    <p:sldId xmlns:r="http://schemas.openxmlformats.org/officeDocument/2006/relationships" id="256" r:id="Rb6b888d232dc408a"/>
    <p:sldId xmlns:r="http://schemas.openxmlformats.org/officeDocument/2006/relationships" id="257" r:id="R487a16cf1b024c0e"/>
    <p:sldId xmlns:r="http://schemas.openxmlformats.org/officeDocument/2006/relationships" id="258" r:id="R6eb14ad744794dcd"/>
    <p:sldId xmlns:r="http://schemas.openxmlformats.org/officeDocument/2006/relationships" id="259" r:id="R672d737ae3274ad1"/>
    <p:sldId xmlns:r="http://schemas.openxmlformats.org/officeDocument/2006/relationships" id="260" r:id="R3cfa9293849c46fc"/>
    <p:sldId xmlns:r="http://schemas.openxmlformats.org/officeDocument/2006/relationships" id="261" r:id="R5b490837a2c447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4c20ef24264904" /><Relationship Type="http://schemas.openxmlformats.org/officeDocument/2006/relationships/slideMaster" Target="/ppt/slideMasters/slideMaster1.xml" Id="R0469157d8bf44f7e" /><Relationship Type="http://schemas.openxmlformats.org/officeDocument/2006/relationships/notesMaster" Target="/ppt/notesMasters/notesMaster1.xml" Id="Re32e7b365ab14db7" /><Relationship Type="http://schemas.openxmlformats.org/officeDocument/2006/relationships/presProps" Target="/ppt/presProps.xml" Id="Radce1a735667442f" /><Relationship Type="http://schemas.openxmlformats.org/officeDocument/2006/relationships/tableStyles" Target="/ppt/tableStyles.xml" Id="Rdddd4b6b2f1f4ed1" /><Relationship Type="http://schemas.openxmlformats.org/officeDocument/2006/relationships/slide" Target="/ppt/slides/slide1.xml" Id="Rb6b888d232dc408a" /><Relationship Type="http://schemas.openxmlformats.org/officeDocument/2006/relationships/slide" Target="/ppt/slides/slide2.xml" Id="R487a16cf1b024c0e" /><Relationship Type="http://schemas.openxmlformats.org/officeDocument/2006/relationships/slide" Target="/ppt/slides/slide3.xml" Id="R6eb14ad744794dcd" /><Relationship Type="http://schemas.openxmlformats.org/officeDocument/2006/relationships/slide" Target="/ppt/slides/slide4.xml" Id="R672d737ae3274ad1" /><Relationship Type="http://schemas.openxmlformats.org/officeDocument/2006/relationships/slide" Target="/ppt/slides/slide5.xml" Id="R3cfa9293849c46fc" /><Relationship Type="http://schemas.openxmlformats.org/officeDocument/2006/relationships/slide" Target="/ppt/slides/slide6.xml" Id="R5b490837a2c447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27ee044e7242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1789a9442c4a2b" /><Relationship Type="http://schemas.openxmlformats.org/officeDocument/2006/relationships/notesMaster" Target="/ppt/notesMasters/notesMaster1.xml" Id="Re9e57f98f24b42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244879af8f4559" /><Relationship Type="http://schemas.openxmlformats.org/officeDocument/2006/relationships/notesMaster" Target="/ppt/notesMasters/notesMaster1.xml" Id="Rb82a6490c83c46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7957c1e98b41f0" /><Relationship Type="http://schemas.openxmlformats.org/officeDocument/2006/relationships/notesMaster" Target="/ppt/notesMasters/notesMaster1.xml" Id="R5dc8bb2c80c444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bfce721f844a26" /><Relationship Type="http://schemas.openxmlformats.org/officeDocument/2006/relationships/notesMaster" Target="/ppt/notesMasters/notesMaster1.xml" Id="R9e439b25ef5f48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67d33848394f41" /><Relationship Type="http://schemas.openxmlformats.org/officeDocument/2006/relationships/notesMaster" Target="/ppt/notesMasters/notesMaster1.xml" Id="R044fa4a100b843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80c16bd9a543fc" /><Relationship Type="http://schemas.openxmlformats.org/officeDocument/2006/relationships/notesMaster" Target="/ppt/notesMasters/notesMaster1.xml" Id="Rab6cf7fc3a6a48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Direct lab evidence captured by Ryan Bryant, August 29,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Metrics reconciled from the controlled osquery evidence set, August 29,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Workflow and safety statements are supported by the listener command, query outputs, and final-state evidence.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 screenshots: listener attribution, HTTP validation, and post-removal osquery result.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Operating implications are analyst inferences from the controlled lab findings.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Recommendations are analyst inferences; osquery schema reference: https://osquery.io/schema/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b9a09cadf546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94707553af4450" /><Relationship Type="http://schemas.openxmlformats.org/officeDocument/2006/relationships/slideLayout" Target="/ppt/slideLayouts/slideLayout1.xml" Id="R9daa1f57d16143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aa1f57d16143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96e922f764a46" /><Relationship Type="http://schemas.openxmlformats.org/officeDocument/2006/relationships/image" Target="/ppt/media/image.png" Id="Rd0268144398146d1" /><Relationship Type="http://schemas.openxmlformats.org/officeDocument/2006/relationships/notesSlide" Target="/ppt/notesSlides/notesSlide1.xml" Id="R0ec50834a3234f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fa31f43c34db7" /><Relationship Type="http://schemas.openxmlformats.org/officeDocument/2006/relationships/notesSlide" Target="/ppt/notesSlides/notesSlide2.xml" Id="R042893fb6fd04b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d3bd6c010437e" /><Relationship Type="http://schemas.openxmlformats.org/officeDocument/2006/relationships/notesSlide" Target="/ppt/notesSlides/notesSlide3.xml" Id="R63de1ae5ac124e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963aa866d41ff" /><Relationship Type="http://schemas.openxmlformats.org/officeDocument/2006/relationships/image" Target="/ppt/media/image2.png" Id="R433d60f25c6d4ec3" /><Relationship Type="http://schemas.openxmlformats.org/officeDocument/2006/relationships/image" Target="/ppt/media/image3.png" Id="R2ec99d8dbc244358" /><Relationship Type="http://schemas.openxmlformats.org/officeDocument/2006/relationships/image" Target="/ppt/media/image4.png" Id="Rfc92eef669984702" /><Relationship Type="http://schemas.openxmlformats.org/officeDocument/2006/relationships/notesSlide" Target="/ppt/notesSlides/notesSlide4.xml" Id="R010d033c282d4e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9fb1906c04d90" /><Relationship Type="http://schemas.openxmlformats.org/officeDocument/2006/relationships/notesSlide" Target="/ppt/notesSlides/notesSlide5.xml" Id="R6840d041f3e043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83b4c61614390" /><Relationship Type="http://schemas.openxmlformats.org/officeDocument/2006/relationships/notesSlide" Target="/ppt/notesSlides/notesSlide6.xml" Id="Rd33b4dc7ee8b43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6CF44FE1-06A9-48AE-B374-F4D767D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ENDPOINT VISIBILITY &amp; HUNTING</a:t>
            </a:r>
          </a:p>
        </p:txBody>
      </p:sp>
      <p:sp>
        <p:nvSpPr>
          <p:cNvPr id="2" name="pill-COMPLETED • VALIDATED">
            <a:extLst xmlns:a="http://schemas.openxmlformats.org/drawingml/2006/main">
              <a:ext uri="{FF2B5EF4-FFF2-40B4-BE49-F238E27FC236}">
                <a16:creationId xmlns:a16="http://schemas.microsoft.com/office/drawing/2014/main" id="{4AC9E68C-2D51-4C23-B680-9A63794E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ill-text-COMPLETED • VALIDATED">
            <a:extLst xmlns:a="http://schemas.openxmlformats.org/drawingml/2006/main">
              <a:ext uri="{FF2B5EF4-FFF2-40B4-BE49-F238E27FC236}">
                <a16:creationId xmlns:a16="http://schemas.microsoft.com/office/drawing/2014/main" id="{3F9B40AB-A7A2-44C0-885B-70179E9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COMPLETED • VALIDATED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ED06142-A9B3-41BA-8553-8EA40E09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219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osquery endpoint hunting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75732A6-69BB-4294-A1E6-013B37D5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170"/>
                </a:solidFill>
                <a:latin typeface="Arial"/>
                <a:ea typeface="Arial"/>
                <a:cs typeface="Arial"/>
              </a:rPr>
              <a:t>A repeatable SQL hunt attributed a controlled listener to its process and user, validated it independently, removed it, and confirmed a clean final state.</a:t>
            </a:r>
          </a:p>
        </p:txBody>
      </p:sp>
      <p:sp>
        <p:nvSpPr>
          <p:cNvPr id="6" name="disposition-card">
            <a:extLst xmlns:a="http://schemas.openxmlformats.org/drawingml/2006/main">
              <a:ext uri="{FF2B5EF4-FFF2-40B4-BE49-F238E27FC236}">
                <a16:creationId xmlns:a16="http://schemas.microsoft.com/office/drawing/2014/main" id="{411F8D79-3DFD-481B-B970-A54E45CE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sposition-label">
            <a:extLst xmlns:a="http://schemas.openxmlformats.org/drawingml/2006/main">
              <a:ext uri="{FF2B5EF4-FFF2-40B4-BE49-F238E27FC236}">
                <a16:creationId xmlns:a16="http://schemas.microsoft.com/office/drawing/2014/main" id="{10BC8244-A64D-4DF7-A100-8CC8573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DISPOSITION</a:t>
            </a:r>
          </a:p>
        </p:txBody>
      </p:sp>
      <p:sp>
        <p:nvSpPr>
          <p:cNvPr id="8" name="disposition">
            <a:extLst xmlns:a="http://schemas.openxmlformats.org/drawingml/2006/main">
              <a:ext uri="{FF2B5EF4-FFF2-40B4-BE49-F238E27FC236}">
                <a16:creationId xmlns:a16="http://schemas.microsoft.com/office/drawing/2014/main" id="{ED4AF8B3-988C-4368-A29F-4CEE3B6E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Controlled listener detected, attributed, removed, and rechecked.</a:t>
            </a:r>
          </a:p>
        </p:txBody>
      </p:sp>
      <p:sp>
        <p:nvSpPr>
          <p:cNvPr id="9" name="cover-evidence-frame">
            <a:extLst xmlns:a="http://schemas.openxmlformats.org/drawingml/2006/main">
              <a:ext uri="{FF2B5EF4-FFF2-40B4-BE49-F238E27FC236}">
                <a16:creationId xmlns:a16="http://schemas.microsoft.com/office/drawing/2014/main" id="{5987091B-4080-4195-9F14-AB070351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"/>
            <a:ext cx="550545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68144398146d1"/>
          <a:stretch xmlns:a="http://schemas.openxmlformats.org/drawingml/2006/main"/>
        </p:blipFill>
        <p:spPr>
          <a:xfrm xmlns:a="http://schemas.openxmlformats.org/drawingml/2006/main">
            <a:off x="6115050" y="2800943"/>
            <a:ext cx="5429250" cy="779865"/>
          </a:xfrm>
          <a:prstGeom xmlns:a="http://schemas.openxmlformats.org/drawingml/2006/main" prst="roundRect">
            <a:avLst/>
          </a:prstGeom>
        </p:spPr>
      </p:pic>
      <p:sp>
        <p:nvSpPr>
          <p:cNvPr id="11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BF861073-3DD2-4EF7-8B84-3C3A2303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198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70"/>
                </a:solidFill>
                <a:latin typeface="Arial"/>
                <a:ea typeface="Arial"/>
                <a:cs typeface="Arial"/>
              </a:rPr>
              <a:t>7 hunt domains • 1 controlled listener • 0 residual results</a:t>
            </a:r>
          </a:p>
        </p:txBody>
      </p:sp>
      <p:sp>
        <p:nvSpPr>
          <p:cNvPr id="12" name="footer-1">
            <a:extLst xmlns:a="http://schemas.openxmlformats.org/drawingml/2006/main">
              <a:ext uri="{FF2B5EF4-FFF2-40B4-BE49-F238E27FC236}">
                <a16:creationId xmlns:a16="http://schemas.microsoft.com/office/drawing/2014/main" id="{CFEADCC8-877D-4266-BB84-72998322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OSQUERY ENDPOINT HUNTING • STAKEHOLDER REPORT  •  Ryan Bryant  •  August 29, 2026</a:t>
            </a:r>
          </a:p>
        </p:txBody>
      </p:sp>
      <p:sp>
        <p:nvSpPr>
          <p:cNvPr id="13" name="page-1">
            <a:extLst xmlns:a="http://schemas.openxmlformats.org/drawingml/2006/main">
              <a:ext uri="{FF2B5EF4-FFF2-40B4-BE49-F238E27FC236}">
                <a16:creationId xmlns:a16="http://schemas.microsoft.com/office/drawing/2014/main" id="{427916FD-15EC-4756-9F89-6B27C0B7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65741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2">
            <a:extLst xmlns:a="http://schemas.openxmlformats.org/drawingml/2006/main">
              <a:ext uri="{FF2B5EF4-FFF2-40B4-BE49-F238E27FC236}">
                <a16:creationId xmlns:a16="http://schemas.microsoft.com/office/drawing/2014/main" id="{7E4F5FCD-E04F-42E2-8B87-6D36F26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EXECUTIVE OUTCOME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BA8A3B2-B6E1-4753-962C-D0A223FA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One controlled anomaly validated the endpoint hunt method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B6902894-FA1F-4FCB-9BBF-BDEE8280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lab proved SQL-based attribution, independent service validation, removal, and final-state verification.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246AB238-6646-4EED-A16E-8FE8FC34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4AADCED0-4EDF-4EA9-8B9B-7D439ACA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OSQUERY ENDPOINT HUNTING • STAKEHOLDER REPORT  •  Ryan Bryant  •  August 29, 2026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0D787D0D-4BFF-4825-93B7-835D4A1D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aw-card">
            <a:extLst xmlns:a="http://schemas.openxmlformats.org/drawingml/2006/main">
              <a:ext uri="{FF2B5EF4-FFF2-40B4-BE49-F238E27FC236}">
                <a16:creationId xmlns:a16="http://schemas.microsoft.com/office/drawing/2014/main" id="{EA829DA6-BEBD-4429-BC78-1FE859F8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raw-accent">
            <a:extLst xmlns:a="http://schemas.openxmlformats.org/drawingml/2006/main">
              <a:ext uri="{FF2B5EF4-FFF2-40B4-BE49-F238E27FC236}">
                <a16:creationId xmlns:a16="http://schemas.microsoft.com/office/drawing/2014/main" id="{19116D74-D185-4E14-841C-5C6EBA06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aw-stat">
            <a:extLst xmlns:a="http://schemas.openxmlformats.org/drawingml/2006/main">
              <a:ext uri="{FF2B5EF4-FFF2-40B4-BE49-F238E27FC236}">
                <a16:creationId xmlns:a16="http://schemas.microsoft.com/office/drawing/2014/main" id="{48C10571-26BD-48E8-942D-B9FD74F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" name="raw-label">
            <a:extLst xmlns:a="http://schemas.openxmlformats.org/drawingml/2006/main">
              <a:ext uri="{FF2B5EF4-FFF2-40B4-BE49-F238E27FC236}">
                <a16:creationId xmlns:a16="http://schemas.microsoft.com/office/drawing/2014/main" id="{E42BE372-865E-4025-A94A-D28F2A4E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hunt domains</a:t>
            </a:r>
          </a:p>
        </p:txBody>
      </p:sp>
      <p:sp>
        <p:nvSpPr>
          <p:cNvPr id="11" name="raw-detail">
            <a:extLst xmlns:a="http://schemas.openxmlformats.org/drawingml/2006/main">
              <a:ext uri="{FF2B5EF4-FFF2-40B4-BE49-F238E27FC236}">
                <a16:creationId xmlns:a16="http://schemas.microsoft.com/office/drawing/2014/main" id="{CD1F2B0D-C4C7-47E4-BCEB-0B4A9BE3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82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Users, processes, Suricata, ports, connections, packages, and deleted executables.</a:t>
            </a:r>
          </a:p>
        </p:txBody>
      </p:sp>
      <p:sp>
        <p:nvSpPr>
          <p:cNvPr id="12" name="alerts-card">
            <a:extLst xmlns:a="http://schemas.openxmlformats.org/drawingml/2006/main">
              <a:ext uri="{FF2B5EF4-FFF2-40B4-BE49-F238E27FC236}">
                <a16:creationId xmlns:a16="http://schemas.microsoft.com/office/drawing/2014/main" id="{10605384-E21A-4332-99DC-DD1116C2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3" name="alerts-accent">
            <a:extLst xmlns:a="http://schemas.openxmlformats.org/drawingml/2006/main">
              <a:ext uri="{FF2B5EF4-FFF2-40B4-BE49-F238E27FC236}">
                <a16:creationId xmlns:a16="http://schemas.microsoft.com/office/drawing/2014/main" id="{D09D0123-49B8-49DF-81AA-8A87FC45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lerts-stat">
            <a:extLst xmlns:a="http://schemas.openxmlformats.org/drawingml/2006/main">
              <a:ext uri="{FF2B5EF4-FFF2-40B4-BE49-F238E27FC236}">
                <a16:creationId xmlns:a16="http://schemas.microsoft.com/office/drawing/2014/main" id="{CDECF06F-15B1-41D8-A694-8FFE2828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alerts-label">
            <a:extLst xmlns:a="http://schemas.openxmlformats.org/drawingml/2006/main">
              <a:ext uri="{FF2B5EF4-FFF2-40B4-BE49-F238E27FC236}">
                <a16:creationId xmlns:a16="http://schemas.microsoft.com/office/drawing/2014/main" id="{4C51684E-4039-4E52-B238-7293D2C6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attributed listener</a:t>
            </a:r>
          </a:p>
        </p:txBody>
      </p:sp>
      <p:sp>
        <p:nvSpPr>
          <p:cNvPr id="16" name="alerts-detail">
            <a:extLst xmlns:a="http://schemas.openxmlformats.org/drawingml/2006/main">
              <a:ext uri="{FF2B5EF4-FFF2-40B4-BE49-F238E27FC236}">
                <a16:creationId xmlns:a16="http://schemas.microsoft.com/office/drawing/2014/main" id="{62517443-E8AC-4EC5-84B4-8DFD03D9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127.0.0.1:8088 mapped to PID 5110, python3, path, command line, and user.</a:t>
            </a:r>
          </a:p>
        </p:txBody>
      </p:sp>
      <p:sp>
        <p:nvSpPr>
          <p:cNvPr id="17" name="rules-card">
            <a:extLst xmlns:a="http://schemas.openxmlformats.org/drawingml/2006/main">
              <a:ext uri="{FF2B5EF4-FFF2-40B4-BE49-F238E27FC236}">
                <a16:creationId xmlns:a16="http://schemas.microsoft.com/office/drawing/2014/main" id="{8B3BFDC9-ED68-4D03-98CC-E38867EE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8" name="rules-accent">
            <a:extLst xmlns:a="http://schemas.openxmlformats.org/drawingml/2006/main">
              <a:ext uri="{FF2B5EF4-FFF2-40B4-BE49-F238E27FC236}">
                <a16:creationId xmlns:a16="http://schemas.microsoft.com/office/drawing/2014/main" id="{30712E81-A3EC-4BB4-895D-969E85E6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9B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s-stat">
            <a:extLst xmlns:a="http://schemas.openxmlformats.org/drawingml/2006/main">
              <a:ext uri="{FF2B5EF4-FFF2-40B4-BE49-F238E27FC236}">
                <a16:creationId xmlns:a16="http://schemas.microsoft.com/office/drawing/2014/main" id="{205B75DA-AB4D-4F23-8C34-1A88445D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[]</a:t>
            </a:r>
          </a:p>
        </p:txBody>
      </p:sp>
      <p:sp>
        <p:nvSpPr>
          <p:cNvPr id="20" name="rules-label">
            <a:extLst xmlns:a="http://schemas.openxmlformats.org/drawingml/2006/main">
              <a:ext uri="{FF2B5EF4-FFF2-40B4-BE49-F238E27FC236}">
                <a16:creationId xmlns:a16="http://schemas.microsoft.com/office/drawing/2014/main" id="{85521899-C033-4128-A9D1-72B4248C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post-removal result</a:t>
            </a:r>
          </a:p>
        </p:txBody>
      </p:sp>
      <p:sp>
        <p:nvSpPr>
          <p:cNvPr id="21" name="rules-detail">
            <a:extLst xmlns:a="http://schemas.openxmlformats.org/drawingml/2006/main">
              <a:ext uri="{FF2B5EF4-FFF2-40B4-BE49-F238E27FC236}">
                <a16:creationId xmlns:a16="http://schemas.microsoft.com/office/drawing/2014/main" id="{6A4ECBD5-F2DA-4141-8270-534A6C66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same listening-port query returned an empty JSON array after cleanup.</a:t>
            </a:r>
          </a:p>
        </p:txBody>
      </p:sp>
      <p:sp>
        <p:nvSpPr>
          <p:cNvPr id="22" name="outcome-band">
            <a:extLst xmlns:a="http://schemas.openxmlformats.org/drawingml/2006/main">
              <a:ext uri="{FF2B5EF4-FFF2-40B4-BE49-F238E27FC236}">
                <a16:creationId xmlns:a16="http://schemas.microsoft.com/office/drawing/2014/main" id="{7A7AF704-9920-48B8-8E96-82B34AC8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10150"/>
            <a:ext cx="11353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3548F2A9-A849-42BB-B1F2-E0FF0F4A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EXECUTIVE CONCLUSION</a:t>
            </a:r>
          </a:p>
        </p:txBody>
      </p:sp>
      <p:sp>
        <p:nvSpPr>
          <p:cNvPr id="24" name="outcome-text">
            <a:extLst xmlns:a="http://schemas.openxmlformats.org/drawingml/2006/main">
              <a:ext uri="{FF2B5EF4-FFF2-40B4-BE49-F238E27FC236}">
                <a16:creationId xmlns:a16="http://schemas.microsoft.com/office/drawing/2014/main" id="{31F4D4C5-0B1E-40EC-9D38-0985C42B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1072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803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hunt transformed endpoint state into attributable evidence and proved closure by rerunning the exact detection query after removal.</a:t>
            </a:r>
          </a:p>
        </p:txBody>
      </p:sp>
    </p:spTree>
    <p:extLst>
      <p:ext uri="{BB962C8B-B14F-4D97-AF65-F5344CB8AC3E}">
        <p14:creationId xmlns:p14="http://schemas.microsoft.com/office/powerpoint/2010/main" val="1108671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3">
            <a:extLst xmlns:a="http://schemas.openxmlformats.org/drawingml/2006/main">
              <a:ext uri="{FF2B5EF4-FFF2-40B4-BE49-F238E27FC236}">
                <a16:creationId xmlns:a16="http://schemas.microsoft.com/office/drawing/2014/main" id="{5CB2E42D-9DC9-4F62-9B3C-6FD4606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DETECTION CHAIN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1D472FD-DBB3-41B5-A00F-A91089C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A broad hunt became a testable endpoint workflow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8A915AFC-EE78-4E14-920E-8850E70E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Each stage used structured queries and an independent validation point.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0048F133-0128-440E-B67A-68DDA540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5C248636-B6F5-4C84-A5ED-39669DB9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OSQUERY ENDPOINT HUNTING • STAKEHOLDER REPORT  •  Ryan Bryant  •  August 29, 2026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FFEA83E2-4E24-4D6E-A762-42156D08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6D82CF10-7A57-4CF4-BE61-1D8B3AB4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0058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01">
            <a:extLst xmlns:a="http://schemas.openxmlformats.org/drawingml/2006/main">
              <a:ext uri="{FF2B5EF4-FFF2-40B4-BE49-F238E27FC236}">
                <a16:creationId xmlns:a16="http://schemas.microsoft.com/office/drawing/2014/main" id="{C0BADFFE-897D-4A32-8ECE-5742E451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text-01">
            <a:extLst xmlns:a="http://schemas.openxmlformats.org/drawingml/2006/main">
              <a:ext uri="{FF2B5EF4-FFF2-40B4-BE49-F238E27FC236}">
                <a16:creationId xmlns:a16="http://schemas.microsoft.com/office/drawing/2014/main" id="{910247FC-D990-4792-9CDE-809164A8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node-title-01">
            <a:extLst xmlns:a="http://schemas.openxmlformats.org/drawingml/2006/main">
              <a:ext uri="{FF2B5EF4-FFF2-40B4-BE49-F238E27FC236}">
                <a16:creationId xmlns:a16="http://schemas.microsoft.com/office/drawing/2014/main" id="{D638F246-F090-45E8-90DC-DC330674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Baseline &amp; scope</a:t>
            </a:r>
          </a:p>
        </p:txBody>
      </p:sp>
      <p:sp>
        <p:nvSpPr>
          <p:cNvPr id="11" name="node-body-01">
            <a:extLst xmlns:a="http://schemas.openxmlformats.org/drawingml/2006/main">
              <a:ext uri="{FF2B5EF4-FFF2-40B4-BE49-F238E27FC236}">
                <a16:creationId xmlns:a16="http://schemas.microsoft.com/office/drawing/2014/main" id="{B97BD3A0-639D-41F0-A4C9-2C4225BF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Installed osquery 5.23.1 and queried users, security processes, ports, connections, packages, and deleted executables.</a:t>
            </a:r>
          </a:p>
        </p:txBody>
      </p:sp>
      <p:sp>
        <p:nvSpPr>
          <p:cNvPr id="12" name="node-02">
            <a:extLst xmlns:a="http://schemas.openxmlformats.org/drawingml/2006/main">
              <a:ext uri="{FF2B5EF4-FFF2-40B4-BE49-F238E27FC236}">
                <a16:creationId xmlns:a16="http://schemas.microsoft.com/office/drawing/2014/main" id="{B0D8F2A1-0695-49CC-B730-2EA8B579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text-02">
            <a:extLst xmlns:a="http://schemas.openxmlformats.org/drawingml/2006/main">
              <a:ext uri="{FF2B5EF4-FFF2-40B4-BE49-F238E27FC236}">
                <a16:creationId xmlns:a16="http://schemas.microsoft.com/office/drawing/2014/main" id="{EDE803D5-3F87-452E-8F30-707F0703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node-title-02">
            <a:extLst xmlns:a="http://schemas.openxmlformats.org/drawingml/2006/main">
              <a:ext uri="{FF2B5EF4-FFF2-40B4-BE49-F238E27FC236}">
                <a16:creationId xmlns:a16="http://schemas.microsoft.com/office/drawing/2014/main" id="{E1BE6DAB-6858-4D7F-80A6-BA335CF7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Detect &amp; attribute</a:t>
            </a:r>
          </a:p>
        </p:txBody>
      </p:sp>
      <p:sp>
        <p:nvSpPr>
          <p:cNvPr id="15" name="node-body-02">
            <a:extLst xmlns:a="http://schemas.openxmlformats.org/drawingml/2006/main">
              <a:ext uri="{FF2B5EF4-FFF2-40B4-BE49-F238E27FC236}">
                <a16:creationId xmlns:a16="http://schemas.microsoft.com/office/drawing/2014/main" id="{E745A114-4667-4919-BFBE-27BB354D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A loopback Python listener was linked to PID 5110, /usr/bin/python3.12, its command line, and user socstudent.</a:t>
            </a:r>
          </a:p>
        </p:txBody>
      </p:sp>
      <p:sp>
        <p:nvSpPr>
          <p:cNvPr id="16" name="node-03">
            <a:extLst xmlns:a="http://schemas.openxmlformats.org/drawingml/2006/main">
              <a:ext uri="{FF2B5EF4-FFF2-40B4-BE49-F238E27FC236}">
                <a16:creationId xmlns:a16="http://schemas.microsoft.com/office/drawing/2014/main" id="{4EB195DC-5F10-43EB-9766-4715F95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text-03">
            <a:extLst xmlns:a="http://schemas.openxmlformats.org/drawingml/2006/main">
              <a:ext uri="{FF2B5EF4-FFF2-40B4-BE49-F238E27FC236}">
                <a16:creationId xmlns:a16="http://schemas.microsoft.com/office/drawing/2014/main" id="{F3588D2E-F1A0-4B84-8597-CFACD5D5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node-title-03">
            <a:extLst xmlns:a="http://schemas.openxmlformats.org/drawingml/2006/main">
              <a:ext uri="{FF2B5EF4-FFF2-40B4-BE49-F238E27FC236}">
                <a16:creationId xmlns:a16="http://schemas.microsoft.com/office/drawing/2014/main" id="{A1DB87B8-9E3C-4C4F-8FB0-32A6C047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Remove &amp; verify</a:t>
            </a:r>
          </a:p>
        </p:txBody>
      </p:sp>
      <p:sp>
        <p:nvSpPr>
          <p:cNvPr id="19" name="node-body-03">
            <a:extLst xmlns:a="http://schemas.openxmlformats.org/drawingml/2006/main">
              <a:ext uri="{FF2B5EF4-FFF2-40B4-BE49-F238E27FC236}">
                <a16:creationId xmlns:a16="http://schemas.microsoft.com/office/drawing/2014/main" id="{D9CE5ADA-3040-4207-BD47-507AC79F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curl confirmed HTTP 200; the process was stopped; the identical port query returned no result; hashes verified.</a:t>
            </a:r>
          </a:p>
        </p:txBody>
      </p:sp>
      <p:sp>
        <p:nvSpPr>
          <p:cNvPr id="20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03F693B7-AAB8-4091-A3E0-F5B2B5DD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1353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meline-note-text">
            <a:extLst xmlns:a="http://schemas.openxmlformats.org/drawingml/2006/main">
              <a:ext uri="{FF2B5EF4-FFF2-40B4-BE49-F238E27FC236}">
                <a16:creationId xmlns:a16="http://schemas.microsoft.com/office/drawing/2014/main" id="{FFBB8D8C-FD17-45C5-A7B6-DC0C60B3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Control point: the listener bound only to 127.0.0.1, preventing exposure to other lab hosts while preserving a realistic hunt target.</a:t>
            </a:r>
          </a:p>
        </p:txBody>
      </p:sp>
    </p:spTree>
    <p:extLst>
      <p:ext uri="{BB962C8B-B14F-4D97-AF65-F5344CB8AC3E}">
        <p14:creationId xmlns:p14="http://schemas.microsoft.com/office/powerpoint/2010/main" val="284331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4">
            <a:extLst xmlns:a="http://schemas.openxmlformats.org/drawingml/2006/main">
              <a:ext uri="{FF2B5EF4-FFF2-40B4-BE49-F238E27FC236}">
                <a16:creationId xmlns:a16="http://schemas.microsoft.com/office/drawing/2014/main" id="{6FB0601A-3A58-4B27-B1F5-727376C6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E48303E-F124-41B2-BA86-563BD548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evidence proves detection, service activity, and cleanup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7E973D22-5C13-4F6F-9D08-C96B92BC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Three artifacts connect endpoint attribution to independent validation and final-state verification.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A0CA1FFB-EDE3-4F2F-A348-A10406BD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14EBD8BF-1387-48CF-9D0B-EA4C520A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OSQUERY ENDPOINT HUNTING • STAKEHOLDER REPORT  •  Ryan Bryant  •  August 29, 2026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5389627C-FDF7-4EB9-B9E6-DE4F135E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hits-frame">
            <a:extLst xmlns:a="http://schemas.openxmlformats.org/drawingml/2006/main">
              <a:ext uri="{FF2B5EF4-FFF2-40B4-BE49-F238E27FC236}">
                <a16:creationId xmlns:a16="http://schemas.microsoft.com/office/drawing/2014/main" id="{B387D65E-ABB9-4060-9844-E1530EC1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544830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d60f25c6d4ec3"/>
          <a:stretch xmlns:a="http://schemas.openxmlformats.org/drawingml/2006/main"/>
        </p:blipFill>
        <p:spPr>
          <a:xfrm xmlns:a="http://schemas.openxmlformats.org/drawingml/2006/main">
            <a:off x="419100" y="3300347"/>
            <a:ext cx="5372100" cy="771656"/>
          </a:xfrm>
          <a:prstGeom xmlns:a="http://schemas.openxmlformats.org/drawingml/2006/main" prst="roundRect">
            <a:avLst/>
          </a:prstGeom>
        </p:spPr>
      </p:pic>
      <p:sp>
        <p:nvSpPr>
          <p:cNvPr id="9" name="hits-caption">
            <a:extLst xmlns:a="http://schemas.openxmlformats.org/drawingml/2006/main">
              <a:ext uri="{FF2B5EF4-FFF2-40B4-BE49-F238E27FC236}">
                <a16:creationId xmlns:a16="http://schemas.microsoft.com/office/drawing/2014/main" id="{BAB9801B-9180-4A9D-8A3E-9E1280A7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127.0.0.1:8088 • PID 5110 • python3 • user socstudent</a:t>
            </a:r>
          </a:p>
        </p:txBody>
      </p:sp>
      <p:sp>
        <p:nvSpPr>
          <p:cNvPr id="10" name="success-rule-frame">
            <a:extLst xmlns:a="http://schemas.openxmlformats.org/drawingml/2006/main">
              <a:ext uri="{FF2B5EF4-FFF2-40B4-BE49-F238E27FC236}">
                <a16:creationId xmlns:a16="http://schemas.microsoft.com/office/drawing/2014/main" id="{B6CCBE43-B11A-494F-A0A5-FAC2FFC3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56578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99d8dbc244358"/>
          <a:stretch xmlns:a="http://schemas.openxmlformats.org/drawingml/2006/main"/>
        </p:blipFill>
        <p:spPr>
          <a:xfrm xmlns:a="http://schemas.openxmlformats.org/drawingml/2006/main">
            <a:off x="6191250" y="2655154"/>
            <a:ext cx="5581650" cy="385641"/>
          </a:xfrm>
          <a:prstGeom xmlns:a="http://schemas.openxmlformats.org/drawingml/2006/main" prst="roundRect">
            <a:avLst/>
          </a:prstGeom>
        </p:spPr>
      </p:pic>
      <p:sp>
        <p:nvSpPr>
          <p:cNvPr id="12" name="success-caption">
            <a:extLst xmlns:a="http://schemas.openxmlformats.org/drawingml/2006/main">
              <a:ext uri="{FF2B5EF4-FFF2-40B4-BE49-F238E27FC236}">
                <a16:creationId xmlns:a16="http://schemas.microsoft.com/office/drawing/2014/main" id="{5636E3F7-F25F-4DEF-84EC-BDC0B402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Independent validation • HTTP 200</a:t>
            </a:r>
          </a:p>
        </p:txBody>
      </p:sp>
      <p:sp>
        <p:nvSpPr>
          <p:cNvPr id="13" name="command-rule-frame">
            <a:extLst xmlns:a="http://schemas.openxmlformats.org/drawingml/2006/main">
              <a:ext uri="{FF2B5EF4-FFF2-40B4-BE49-F238E27FC236}">
                <a16:creationId xmlns:a16="http://schemas.microsoft.com/office/drawing/2014/main" id="{B7588CB8-14A1-4FA1-BC3C-6ADE3E40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56578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2eef669984702"/>
          <a:stretch xmlns:a="http://schemas.openxmlformats.org/drawingml/2006/main"/>
        </p:blipFill>
        <p:spPr>
          <a:xfrm xmlns:a="http://schemas.openxmlformats.org/drawingml/2006/main">
            <a:off x="6442844" y="4610760"/>
            <a:ext cx="5078462" cy="894031"/>
          </a:xfrm>
          <a:prstGeom xmlns:a="http://schemas.openxmlformats.org/drawingml/2006/main" prst="roundRect">
            <a:avLst/>
          </a:prstGeom>
        </p:spPr>
      </p:pic>
      <p:sp>
        <p:nvSpPr>
          <p:cNvPr id="15" name="command-caption">
            <a:extLst xmlns:a="http://schemas.openxmlformats.org/drawingml/2006/main">
              <a:ext uri="{FF2B5EF4-FFF2-40B4-BE49-F238E27FC236}">
                <a16:creationId xmlns:a16="http://schemas.microsoft.com/office/drawing/2014/main" id="{7D0E54F6-48CE-4FC7-8FC4-F2ACBCE8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4835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Process stopped • repeated osquery result []</a:t>
            </a:r>
          </a:p>
        </p:txBody>
      </p:sp>
    </p:spTree>
    <p:extLst>
      <p:ext uri="{BB962C8B-B14F-4D97-AF65-F5344CB8AC3E}">
        <p14:creationId xmlns:p14="http://schemas.microsoft.com/office/powerpoint/2010/main" val="58867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5">
            <a:extLst xmlns:a="http://schemas.openxmlformats.org/drawingml/2006/main">
              <a:ext uri="{FF2B5EF4-FFF2-40B4-BE49-F238E27FC236}">
                <a16:creationId xmlns:a16="http://schemas.microsoft.com/office/drawing/2014/main" id="{6059D533-AF39-4FB8-BB16-915013E2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RISK AND OPERATING IMPACT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254553C-ED43-4D97-B6A8-C8E25492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9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Structured endpoint state improves triage and closure confidence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8EEEBBF8-784D-4994-B3F5-6E64EB7A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exercise validates point-in-time hunting, not continuous fleet telemetry or malicious intent.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76E9B202-281A-4D13-A1D3-17F83447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CB152FB4-D7B1-4AB6-A54E-CAD8B0FD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OSQUERY ENDPOINT HUNTING • STAKEHOLDER REPORT  •  Ryan Bryant  •  August 29, 2026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CA698F23-54D9-44F8-AC5E-7E845363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impact-0">
            <a:extLst xmlns:a="http://schemas.openxmlformats.org/drawingml/2006/main">
              <a:ext uri="{FF2B5EF4-FFF2-40B4-BE49-F238E27FC236}">
                <a16:creationId xmlns:a16="http://schemas.microsoft.com/office/drawing/2014/main" id="{40C3DB81-AAC5-4C6E-8938-0260FD16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mpact-label-0">
            <a:extLst xmlns:a="http://schemas.openxmlformats.org/drawingml/2006/main">
              <a:ext uri="{FF2B5EF4-FFF2-40B4-BE49-F238E27FC236}">
                <a16:creationId xmlns:a16="http://schemas.microsoft.com/office/drawing/2014/main" id="{383C680A-AB26-44DA-9F77-C871BD5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HUNT VALUE</a:t>
            </a:r>
          </a:p>
        </p:txBody>
      </p:sp>
      <p:sp>
        <p:nvSpPr>
          <p:cNvPr id="9" name="impact-head-0">
            <a:extLst xmlns:a="http://schemas.openxmlformats.org/drawingml/2006/main">
              <a:ext uri="{FF2B5EF4-FFF2-40B4-BE49-F238E27FC236}">
                <a16:creationId xmlns:a16="http://schemas.microsoft.com/office/drawing/2014/main" id="{2C29079B-8FAF-4DCB-8E67-D54E285B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Ports became attributable</a:t>
            </a:r>
          </a:p>
        </p:txBody>
      </p:sp>
      <p:sp>
        <p:nvSpPr>
          <p:cNvPr id="10" name="impact-body-0">
            <a:extLst xmlns:a="http://schemas.openxmlformats.org/drawingml/2006/main">
              <a:ext uri="{FF2B5EF4-FFF2-40B4-BE49-F238E27FC236}">
                <a16:creationId xmlns:a16="http://schemas.microsoft.com/office/drawing/2014/main" id="{30698E5F-5C26-4B26-BC6D-E1E0C372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A listener was tied to executable, command line, PID, address, port, and user instead of appearing as an isolated socket.</a:t>
            </a:r>
          </a:p>
        </p:txBody>
      </p:sp>
      <p:sp>
        <p:nvSpPr>
          <p:cNvPr id="11" name="impact-1">
            <a:extLst xmlns:a="http://schemas.openxmlformats.org/drawingml/2006/main">
              <a:ext uri="{FF2B5EF4-FFF2-40B4-BE49-F238E27FC236}">
                <a16:creationId xmlns:a16="http://schemas.microsoft.com/office/drawing/2014/main" id="{C7B91995-040E-41DF-B226-F26D799B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mpact-label-1">
            <a:extLst xmlns:a="http://schemas.openxmlformats.org/drawingml/2006/main">
              <a:ext uri="{FF2B5EF4-FFF2-40B4-BE49-F238E27FC236}">
                <a16:creationId xmlns:a16="http://schemas.microsoft.com/office/drawing/2014/main" id="{668D1B8E-2AF5-408D-BAAF-2B208B6B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SAFETY BOUNDARY</a:t>
            </a:r>
          </a:p>
        </p:txBody>
      </p:sp>
      <p:sp>
        <p:nvSpPr>
          <p:cNvPr id="13" name="impact-head-1">
            <a:extLst xmlns:a="http://schemas.openxmlformats.org/drawingml/2006/main">
              <a:ext uri="{FF2B5EF4-FFF2-40B4-BE49-F238E27FC236}">
                <a16:creationId xmlns:a16="http://schemas.microsoft.com/office/drawing/2014/main" id="{521CD996-4559-435E-B829-315F8567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anomaly stayed local</a:t>
            </a:r>
          </a:p>
        </p:txBody>
      </p:sp>
      <p:sp>
        <p:nvSpPr>
          <p:cNvPr id="14" name="impact-body-1">
            <a:extLst xmlns:a="http://schemas.openxmlformats.org/drawingml/2006/main">
              <a:ext uri="{FF2B5EF4-FFF2-40B4-BE49-F238E27FC236}">
                <a16:creationId xmlns:a16="http://schemas.microsoft.com/office/drawing/2014/main" id="{F9BCEE65-93D6-4577-88A0-A5855756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The controlled service bound only to loopback and used temporary content, avoiding external exposure.</a:t>
            </a:r>
          </a:p>
        </p:txBody>
      </p:sp>
      <p:sp>
        <p:nvSpPr>
          <p:cNvPr id="15" name="impact-2">
            <a:extLst xmlns:a="http://schemas.openxmlformats.org/drawingml/2006/main">
              <a:ext uri="{FF2B5EF4-FFF2-40B4-BE49-F238E27FC236}">
                <a16:creationId xmlns:a16="http://schemas.microsoft.com/office/drawing/2014/main" id="{DE3C646C-0A85-4067-A7BC-BC42671A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mpact-label-2">
            <a:extLst xmlns:a="http://schemas.openxmlformats.org/drawingml/2006/main">
              <a:ext uri="{FF2B5EF4-FFF2-40B4-BE49-F238E27FC236}">
                <a16:creationId xmlns:a16="http://schemas.microsoft.com/office/drawing/2014/main" id="{04AAD93E-AA4D-40BD-A7E0-4B8BAE4E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9A6B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6B00"/>
                </a:solidFill>
                <a:latin typeface="Arial"/>
                <a:ea typeface="Arial"/>
                <a:cs typeface="Arial"/>
              </a:rPr>
              <a:t>EVIDENCE CONFIDENCE</a:t>
            </a:r>
          </a:p>
        </p:txBody>
      </p:sp>
      <p:sp>
        <p:nvSpPr>
          <p:cNvPr id="17" name="impact-head-2">
            <a:extLst xmlns:a="http://schemas.openxmlformats.org/drawingml/2006/main">
              <a:ext uri="{FF2B5EF4-FFF2-40B4-BE49-F238E27FC236}">
                <a16:creationId xmlns:a16="http://schemas.microsoft.com/office/drawing/2014/main" id="{C68C2ED5-E93E-4CFF-8EB4-7F12665A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Cleanup was observable</a:t>
            </a:r>
          </a:p>
        </p:txBody>
      </p:sp>
      <p:sp>
        <p:nvSpPr>
          <p:cNvPr id="18" name="impact-body-2">
            <a:extLst xmlns:a="http://schemas.openxmlformats.org/drawingml/2006/main">
              <a:ext uri="{FF2B5EF4-FFF2-40B4-BE49-F238E27FC236}">
                <a16:creationId xmlns:a16="http://schemas.microsoft.com/office/drawing/2014/main" id="{22824B79-B106-4464-8210-8E67FAE4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19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The same hunt query proved the listener existed before removal and no longer existed afterward.</a:t>
            </a:r>
          </a:p>
        </p:txBody>
      </p:sp>
      <p:sp>
        <p:nvSpPr>
          <p:cNvPr id="19" name="risk-band">
            <a:extLst xmlns:a="http://schemas.openxmlformats.org/drawingml/2006/main">
              <a:ext uri="{FF2B5EF4-FFF2-40B4-BE49-F238E27FC236}">
                <a16:creationId xmlns:a16="http://schemas.microsoft.com/office/drawing/2014/main" id="{A3161B1F-2006-4BEB-883F-F6A55431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0"/>
            <a:ext cx="111252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isk-band-text">
            <a:extLst xmlns:a="http://schemas.openxmlformats.org/drawingml/2006/main">
              <a:ext uri="{FF2B5EF4-FFF2-40B4-BE49-F238E27FC236}">
                <a16:creationId xmlns:a16="http://schemas.microsoft.com/office/drawing/2014/main" id="{0AA27802-F194-4E7C-BD4F-B87B6D4C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14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Limit: one point-in-time loopback test does not measure scheduled-query latency, enterprise fleet load, event retention, or persistent adversary behavior.</a:t>
            </a:r>
          </a:p>
        </p:txBody>
      </p:sp>
    </p:spTree>
    <p:extLst>
      <p:ext uri="{BB962C8B-B14F-4D97-AF65-F5344CB8AC3E}">
        <p14:creationId xmlns:p14="http://schemas.microsoft.com/office/powerpoint/2010/main" val="1504036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6">
            <a:extLst xmlns:a="http://schemas.openxmlformats.org/drawingml/2006/main">
              <a:ext uri="{FF2B5EF4-FFF2-40B4-BE49-F238E27FC236}">
                <a16:creationId xmlns:a16="http://schemas.microsoft.com/office/drawing/2014/main" id="{3A3F0F0B-434A-4D27-850B-A9364B3F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RECOMMENDED NEXT STEPS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96F5DD6-FB54-4F5D-AB52-6DFC8297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Operationalize the endpoint hunt capability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FA1EFB08-27C0-4206-85D5-5F218E15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Priorities move the validated queries from a one-time exercise into a governed monitoring program.</a:t>
            </a:r>
          </a:p>
        </p:txBody>
      </p:sp>
      <p:sp>
        <p:nvSpPr>
          <p:cNvPr id="4" name="rule-6">
            <a:extLst xmlns:a="http://schemas.openxmlformats.org/drawingml/2006/main">
              <a:ext uri="{FF2B5EF4-FFF2-40B4-BE49-F238E27FC236}">
                <a16:creationId xmlns:a16="http://schemas.microsoft.com/office/drawing/2014/main" id="{E6074FD8-5BAC-42F0-828B-CB004421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CCC2312F-C03A-413A-B2C8-6F479F25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OSQUERY ENDPOINT HUNTING • STAKEHOLDER REPORT  •  Ryan Bryant  •  August 29, 2026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61BB881A-E3D6-4030-85E8-7FA9197B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-num-0">
            <a:extLst xmlns:a="http://schemas.openxmlformats.org/drawingml/2006/main">
              <a:ext uri="{FF2B5EF4-FFF2-40B4-BE49-F238E27FC236}">
                <a16:creationId xmlns:a16="http://schemas.microsoft.com/office/drawing/2014/main" id="{5280EFF1-9496-4FC9-B80E-00539D17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-num-text-0">
            <a:extLst xmlns:a="http://schemas.openxmlformats.org/drawingml/2006/main">
              <a:ext uri="{FF2B5EF4-FFF2-40B4-BE49-F238E27FC236}">
                <a16:creationId xmlns:a16="http://schemas.microsoft.com/office/drawing/2014/main" id="{09C78E1E-CDDE-40BE-9A83-ACF4D659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24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-title-0">
            <a:extLst xmlns:a="http://schemas.openxmlformats.org/drawingml/2006/main">
              <a:ext uri="{FF2B5EF4-FFF2-40B4-BE49-F238E27FC236}">
                <a16:creationId xmlns:a16="http://schemas.microsoft.com/office/drawing/2014/main" id="{AEAAFD96-4478-42AC-8767-5099F6F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Schedule the pack</a:t>
            </a:r>
          </a:p>
        </p:txBody>
      </p:sp>
      <p:sp>
        <p:nvSpPr>
          <p:cNvPr id="10" name="rec-body-0">
            <a:extLst xmlns:a="http://schemas.openxmlformats.org/drawingml/2006/main">
              <a:ext uri="{FF2B5EF4-FFF2-40B4-BE49-F238E27FC236}">
                <a16:creationId xmlns:a16="http://schemas.microsoft.com/office/drawing/2014/main" id="{39EA846B-2692-4B90-AAA9-663E75C7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Run the validated queries centrally and monitor query execution, freshness, and collection gaps.</a:t>
            </a:r>
          </a:p>
        </p:txBody>
      </p:sp>
      <p:sp>
        <p:nvSpPr>
          <p:cNvPr id="11" name="rec-line-0">
            <a:extLst xmlns:a="http://schemas.openxmlformats.org/drawingml/2006/main">
              <a:ext uri="{FF2B5EF4-FFF2-40B4-BE49-F238E27FC236}">
                <a16:creationId xmlns:a16="http://schemas.microsoft.com/office/drawing/2014/main" id="{9EFB90A0-EE9A-403A-B287-B4F4FA93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-num-1">
            <a:extLst xmlns:a="http://schemas.openxmlformats.org/drawingml/2006/main">
              <a:ext uri="{FF2B5EF4-FFF2-40B4-BE49-F238E27FC236}">
                <a16:creationId xmlns:a16="http://schemas.microsoft.com/office/drawing/2014/main" id="{353C0AB1-73BB-4079-B689-7D8C519F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-num-text-1">
            <a:extLst xmlns:a="http://schemas.openxmlformats.org/drawingml/2006/main">
              <a:ext uri="{FF2B5EF4-FFF2-40B4-BE49-F238E27FC236}">
                <a16:creationId xmlns:a16="http://schemas.microsoft.com/office/drawing/2014/main" id="{B8DC18CA-A4FD-4DBF-A325-62EDCE3F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-title-1">
            <a:extLst xmlns:a="http://schemas.openxmlformats.org/drawingml/2006/main">
              <a:ext uri="{FF2B5EF4-FFF2-40B4-BE49-F238E27FC236}">
                <a16:creationId xmlns:a16="http://schemas.microsoft.com/office/drawing/2014/main" id="{5F05EEBB-97DC-4CDA-AE37-FF3B80C8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Role baselines</a:t>
            </a:r>
          </a:p>
        </p:txBody>
      </p:sp>
      <p:sp>
        <p:nvSpPr>
          <p:cNvPr id="15" name="rec-body-1">
            <a:extLst xmlns:a="http://schemas.openxmlformats.org/drawingml/2006/main">
              <a:ext uri="{FF2B5EF4-FFF2-40B4-BE49-F238E27FC236}">
                <a16:creationId xmlns:a16="http://schemas.microsoft.com/office/drawing/2014/main" id="{7B80B771-1DA4-459D-9D44-20387AD5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765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Define approved users, listeners, packages, and defensive processes for each endpoint role.</a:t>
            </a:r>
          </a:p>
        </p:txBody>
      </p:sp>
      <p:sp>
        <p:nvSpPr>
          <p:cNvPr id="16" name="rec-line-1">
            <a:extLst xmlns:a="http://schemas.openxmlformats.org/drawingml/2006/main">
              <a:ext uri="{FF2B5EF4-FFF2-40B4-BE49-F238E27FC236}">
                <a16:creationId xmlns:a16="http://schemas.microsoft.com/office/drawing/2014/main" id="{D7AA68A8-3815-4D36-B6C5-6D41210E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-num-2">
            <a:extLst xmlns:a="http://schemas.openxmlformats.org/drawingml/2006/main">
              <a:ext uri="{FF2B5EF4-FFF2-40B4-BE49-F238E27FC236}">
                <a16:creationId xmlns:a16="http://schemas.microsoft.com/office/drawing/2014/main" id="{8C000330-52DB-4B63-9ACF-58F05639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-num-text-2">
            <a:extLst xmlns:a="http://schemas.openxmlformats.org/drawingml/2006/main">
              <a:ext uri="{FF2B5EF4-FFF2-40B4-BE49-F238E27FC236}">
                <a16:creationId xmlns:a16="http://schemas.microsoft.com/office/drawing/2014/main" id="{087FC2FC-A5DC-4A38-955C-FCB8D93A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528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-title-2">
            <a:extLst xmlns:a="http://schemas.openxmlformats.org/drawingml/2006/main">
              <a:ext uri="{FF2B5EF4-FFF2-40B4-BE49-F238E27FC236}">
                <a16:creationId xmlns:a16="http://schemas.microsoft.com/office/drawing/2014/main" id="{5EC59FD6-59EA-4665-B7D5-078758C0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Higher-risk alerts</a:t>
            </a:r>
          </a:p>
        </p:txBody>
      </p:sp>
      <p:sp>
        <p:nvSpPr>
          <p:cNvPr id="20" name="rec-body-2">
            <a:extLst xmlns:a="http://schemas.openxmlformats.org/drawingml/2006/main">
              <a:ext uri="{FF2B5EF4-FFF2-40B4-BE49-F238E27FC236}">
                <a16:creationId xmlns:a16="http://schemas.microsoft.com/office/drawing/2014/main" id="{B44680AE-D150-4C3A-A486-C76CEB19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Prioritize new external listeners and processes whose executable is no longer present on disk.</a:t>
            </a:r>
          </a:p>
        </p:txBody>
      </p:sp>
      <p:sp>
        <p:nvSpPr>
          <p:cNvPr id="21" name="rec-line-2">
            <a:extLst xmlns:a="http://schemas.openxmlformats.org/drawingml/2006/main">
              <a:ext uri="{FF2B5EF4-FFF2-40B4-BE49-F238E27FC236}">
                <a16:creationId xmlns:a16="http://schemas.microsoft.com/office/drawing/2014/main" id="{0075F3CC-AF20-4141-8A01-29B3921C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-num-3">
            <a:extLst xmlns:a="http://schemas.openxmlformats.org/drawingml/2006/main">
              <a:ext uri="{FF2B5EF4-FFF2-40B4-BE49-F238E27FC236}">
                <a16:creationId xmlns:a16="http://schemas.microsoft.com/office/drawing/2014/main" id="{829B5B47-CBE8-420F-B213-D3927996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-num-text-3">
            <a:extLst xmlns:a="http://schemas.openxmlformats.org/drawingml/2006/main">
              <a:ext uri="{FF2B5EF4-FFF2-40B4-BE49-F238E27FC236}">
                <a16:creationId xmlns:a16="http://schemas.microsoft.com/office/drawing/2014/main" id="{268BF5D2-287F-4851-B209-51ED8307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67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rec-title-3">
            <a:extLst xmlns:a="http://schemas.openxmlformats.org/drawingml/2006/main">
              <a:ext uri="{FF2B5EF4-FFF2-40B4-BE49-F238E27FC236}">
                <a16:creationId xmlns:a16="http://schemas.microsoft.com/office/drawing/2014/main" id="{D9ECCA97-2D58-403B-B2E1-D253A66E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05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Business context</a:t>
            </a:r>
          </a:p>
        </p:txBody>
      </p:sp>
      <p:sp>
        <p:nvSpPr>
          <p:cNvPr id="25" name="rec-body-3">
            <a:extLst xmlns:a="http://schemas.openxmlformats.org/drawingml/2006/main">
              <a:ext uri="{FF2B5EF4-FFF2-40B4-BE49-F238E27FC236}">
                <a16:creationId xmlns:a16="http://schemas.microsoft.com/office/drawing/2014/main" id="{1B100479-D7F1-4B15-ADF0-43C4728F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053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Enrich results with asset owner, criticality, and change-window data before escalation.</a:t>
            </a:r>
          </a:p>
        </p:txBody>
      </p:sp>
      <p:sp>
        <p:nvSpPr>
          <p:cNvPr id="26" name="decision">
            <a:extLst xmlns:a="http://schemas.openxmlformats.org/drawingml/2006/main">
              <a:ext uri="{FF2B5EF4-FFF2-40B4-BE49-F238E27FC236}">
                <a16:creationId xmlns:a16="http://schemas.microsoft.com/office/drawing/2014/main" id="{3E3D6020-D1FD-46D4-9DB9-25C92D67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34050"/>
            <a:ext cx="11353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705CB56D-3C80-4330-BD1A-47BC7F5F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Decision request: approve a small scheduled-hunt pilot with role baselines, result retention, and query-health monitoring.</a:t>
            </a:r>
          </a:p>
        </p:txBody>
      </p:sp>
    </p:spTree>
    <p:extLst>
      <p:ext uri="{BB962C8B-B14F-4D97-AF65-F5344CB8AC3E}">
        <p14:creationId xmlns:p14="http://schemas.microsoft.com/office/powerpoint/2010/main" val="1416797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2026-08-29T20:11:01.7340000Z</dcterms:created>
  <dcterms:modified xsi:type="dcterms:W3CDTF">2026-08-29T20:11:01.7340000Z</dcterms:modified>
</coreProperties>
</file>