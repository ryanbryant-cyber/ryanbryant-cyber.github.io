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e70b94f034e02" /><Relationship Type="http://schemas.openxmlformats.org/officeDocument/2006/relationships/extended-properties" Target="/docProps/app.xml" Id="R1af82402a1214315" /><Relationship Type="http://schemas.openxmlformats.org/officeDocument/2006/relationships/officeDocument" Target="/ppt/presentation.xml" Id="Rd1b224743e7b4f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baf1ad68fd4369"/>
  </p:sldMasterIdLst>
  <p:notesMasterIdLst>
    <p:notesMasterId xmlns:r="http://schemas.openxmlformats.org/officeDocument/2006/relationships" r:id="Rd519738878fd4991"/>
  </p:notesMasterIdLst>
  <p:sldIdLst>
    <p:sldId xmlns:r="http://schemas.openxmlformats.org/officeDocument/2006/relationships" id="256" r:id="R791ededcec5b49c4"/>
    <p:sldId xmlns:r="http://schemas.openxmlformats.org/officeDocument/2006/relationships" id="257" r:id="R5e315baacf4943c0"/>
    <p:sldId xmlns:r="http://schemas.openxmlformats.org/officeDocument/2006/relationships" id="258" r:id="R3f9874aeb62d4cdf"/>
    <p:sldId xmlns:r="http://schemas.openxmlformats.org/officeDocument/2006/relationships" id="259" r:id="R0118adabc2f34c56"/>
    <p:sldId xmlns:r="http://schemas.openxmlformats.org/officeDocument/2006/relationships" id="260" r:id="R493ede88e5bb47fe"/>
    <p:sldId xmlns:r="http://schemas.openxmlformats.org/officeDocument/2006/relationships" id="261" r:id="Rfb1d178e6f7841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0a85a9d52b42b9" /><Relationship Type="http://schemas.openxmlformats.org/officeDocument/2006/relationships/slideMaster" Target="/ppt/slideMasters/slideMaster1.xml" Id="Ra5baf1ad68fd4369" /><Relationship Type="http://schemas.openxmlformats.org/officeDocument/2006/relationships/notesMaster" Target="/ppt/notesMasters/notesMaster1.xml" Id="Rd519738878fd4991" /><Relationship Type="http://schemas.openxmlformats.org/officeDocument/2006/relationships/presProps" Target="/ppt/presProps.xml" Id="Rd3d18705e5f34371" /><Relationship Type="http://schemas.openxmlformats.org/officeDocument/2006/relationships/tableStyles" Target="/ppt/tableStyles.xml" Id="Rf14960006b8841f6" /><Relationship Type="http://schemas.openxmlformats.org/officeDocument/2006/relationships/slide" Target="/ppt/slides/slide1.xml" Id="R791ededcec5b49c4" /><Relationship Type="http://schemas.openxmlformats.org/officeDocument/2006/relationships/slide" Target="/ppt/slides/slide2.xml" Id="R5e315baacf4943c0" /><Relationship Type="http://schemas.openxmlformats.org/officeDocument/2006/relationships/slide" Target="/ppt/slides/slide3.xml" Id="R3f9874aeb62d4cdf" /><Relationship Type="http://schemas.openxmlformats.org/officeDocument/2006/relationships/slide" Target="/ppt/slides/slide4.xml" Id="R0118adabc2f34c56" /><Relationship Type="http://schemas.openxmlformats.org/officeDocument/2006/relationships/slide" Target="/ppt/slides/slide5.xml" Id="R493ede88e5bb47fe" /><Relationship Type="http://schemas.openxmlformats.org/officeDocument/2006/relationships/slide" Target="/ppt/slides/slide6.xml" Id="Rfb1d178e6f7841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e5fcc144049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dd192940df4c13" /><Relationship Type="http://schemas.openxmlformats.org/officeDocument/2006/relationships/notesMaster" Target="/ppt/notesMasters/notesMaster1.xml" Id="R12c6e50b80404a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0c347b09ab44f8" /><Relationship Type="http://schemas.openxmlformats.org/officeDocument/2006/relationships/notesMaster" Target="/ppt/notesMasters/notesMaster1.xml" Id="R5dd07d77c1c441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8826314fed4f43" /><Relationship Type="http://schemas.openxmlformats.org/officeDocument/2006/relationships/notesMaster" Target="/ppt/notesMasters/notesMaster1.xml" Id="Rd7867613583540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15e13ae860468b" /><Relationship Type="http://schemas.openxmlformats.org/officeDocument/2006/relationships/notesMaster" Target="/ppt/notesMasters/notesMaster1.xml" Id="R36524b0a5bb2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db7e35123480a" /><Relationship Type="http://schemas.openxmlformats.org/officeDocument/2006/relationships/notesMaster" Target="/ppt/notesMasters/notesMaster1.xml" Id="R85758fa179a648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d7cdd4793645e7" /><Relationship Type="http://schemas.openxmlformats.org/officeDocument/2006/relationships/notesMaster" Target="/ppt/notesMasters/notesMaster1.xml" Id="R230afb1ba44d48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Direct lab evidence captured by Ryan Bryant, August 29,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Metrics are drawn from Wazuh manager evidence, endpoint response logs, and the pre/during/post network test.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Guardrails are supported by the script self-test, file permissions, rule test, and documented rollback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screenshots: manager alert, response lifecycle, and endpoint add/delete log.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Operating implications are analyst inferences from the controlled lab findings.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Recommendations are analyst inferences; Wazuh Active Response docs: https://documentation.wazuh.com/current/user-manual/capabilities/active-response/how-to-configure.html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0375a25cc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ef7ab7ff6d4a7e" /><Relationship Type="http://schemas.openxmlformats.org/officeDocument/2006/relationships/slideLayout" Target="/ppt/slideLayouts/slideLayout1.xml" Id="Rf1a0c4590b7946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a0c4590b7946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90c0c484e42f8" /><Relationship Type="http://schemas.openxmlformats.org/officeDocument/2006/relationships/image" Target="/ppt/media/image.png" Id="R68108f3a50474d4a" /><Relationship Type="http://schemas.openxmlformats.org/officeDocument/2006/relationships/notesSlide" Target="/ppt/notesSlides/notesSlide1.xml" Id="Rc3d67448b90e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8ef94eb0b4777" /><Relationship Type="http://schemas.openxmlformats.org/officeDocument/2006/relationships/notesSlide" Target="/ppt/notesSlides/notesSlide2.xml" Id="R2955043e5d1d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6d089d52944c5" /><Relationship Type="http://schemas.openxmlformats.org/officeDocument/2006/relationships/notesSlide" Target="/ppt/notesSlides/notesSlide3.xml" Id="Red7d3e9428494a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805e698db43c5" /><Relationship Type="http://schemas.openxmlformats.org/officeDocument/2006/relationships/image" Target="/ppt/media/image2.png" Id="Rf561a37609dd47f0" /><Relationship Type="http://schemas.openxmlformats.org/officeDocument/2006/relationships/image" Target="/ppt/media/image3.png" Id="R6ccf9080af354da4" /><Relationship Type="http://schemas.openxmlformats.org/officeDocument/2006/relationships/image" Target="/ppt/media/image4.png" Id="Rac0e06013dec48fd" /><Relationship Type="http://schemas.openxmlformats.org/officeDocument/2006/relationships/notesSlide" Target="/ppt/notesSlides/notesSlide4.xml" Id="R588b0b36a67641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500a1be0f4d08" /><Relationship Type="http://schemas.openxmlformats.org/officeDocument/2006/relationships/notesSlide" Target="/ppt/notesSlides/notesSlide5.xml" Id="R58cb5eae0b5443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6a8260d614845" /><Relationship Type="http://schemas.openxmlformats.org/officeDocument/2006/relationships/notesSlide" Target="/ppt/notesSlides/notesSlide6.xml" Id="R93a62d9046b0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CF44FE1-06A9-48AE-B374-F4D767D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AUTOMATED CONTAINMENT &amp; RECOVERY</a:t>
            </a:r>
          </a:p>
        </p:txBody>
      </p:sp>
      <p:sp>
        <p:nvSpPr>
          <p:cNvPr id="2" name="pill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4AC9E68C-2D51-4C23-B680-9A63794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-text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3F9B40AB-A7A2-44C0-885B-70179E9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COMPLETED • VALIDATED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D06142-A9B3-41BA-8553-8EA40E0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21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Wazuh active response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5732A6-69BB-4294-A1E6-013B37D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170"/>
                </a:solidFill>
                <a:latin typeface="Arial"/>
                <a:ea typeface="Arial"/>
                <a:cs typeface="Arial"/>
              </a:rPr>
              <a:t>A level-10 Suricata alert triggered a guarded, source-specific firewall block and automatic 120-second recovery.</a:t>
            </a:r>
          </a:p>
        </p:txBody>
      </p:sp>
      <p:sp>
        <p:nvSpPr>
          <p:cNvPr id="6" name="disposition-card">
            <a:extLst xmlns:a="http://schemas.openxmlformats.org/drawingml/2006/main">
              <a:ext uri="{FF2B5EF4-FFF2-40B4-BE49-F238E27FC236}">
                <a16:creationId xmlns:a16="http://schemas.microsoft.com/office/drawing/2014/main" id="{411F8D79-3DFD-481B-B970-A54E45C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position-label">
            <a:extLst xmlns:a="http://schemas.openxmlformats.org/drawingml/2006/main">
              <a:ext uri="{FF2B5EF4-FFF2-40B4-BE49-F238E27FC236}">
                <a16:creationId xmlns:a16="http://schemas.microsoft.com/office/drawing/2014/main" id="{10BC8244-A64D-4DF7-A100-8CC8573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DISPOSITION</a:t>
            </a:r>
          </a:p>
        </p:txBody>
      </p:sp>
      <p:sp>
        <p:nvSpPr>
          <p:cNvPr id="8" name="disposition">
            <a:extLst xmlns:a="http://schemas.openxmlformats.org/drawingml/2006/main">
              <a:ext uri="{FF2B5EF4-FFF2-40B4-BE49-F238E27FC236}">
                <a16:creationId xmlns:a16="http://schemas.microsoft.com/office/drawing/2014/main" id="{ED4AF8B3-988C-4368-A29F-4CEE3B6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Detect, contain, and recover completed with no residual firewall rule.</a:t>
            </a:r>
          </a:p>
        </p:txBody>
      </p:sp>
      <p:sp>
        <p:nvSpPr>
          <p:cNvPr id="9" name="cover-evidence-frame">
            <a:extLst xmlns:a="http://schemas.openxmlformats.org/drawingml/2006/main">
              <a:ext uri="{FF2B5EF4-FFF2-40B4-BE49-F238E27FC236}">
                <a16:creationId xmlns:a16="http://schemas.microsoft.com/office/drawing/2014/main" id="{5987091B-4080-4195-9F14-AB07035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"/>
            <a:ext cx="55054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08f3a50474d4a"/>
          <a:stretch xmlns:a="http://schemas.openxmlformats.org/drawingml/2006/main"/>
        </p:blipFill>
        <p:spPr>
          <a:xfrm xmlns:a="http://schemas.openxmlformats.org/drawingml/2006/main">
            <a:off x="7008785" y="514350"/>
            <a:ext cx="3641779" cy="5353050"/>
          </a:xfrm>
          <a:prstGeom xmlns:a="http://schemas.openxmlformats.org/drawingml/2006/main" prst="roundRect">
            <a:avLst/>
          </a:prstGeom>
        </p:spPr>
      </p:pic>
      <p:sp>
        <p:nvSpPr>
          <p:cNvPr id="11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BF861073-3DD2-4EF7-8B84-3C3A230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70"/>
                </a:solidFill>
                <a:latin typeface="Arial"/>
                <a:ea typeface="Arial"/>
                <a:cs typeface="Arial"/>
              </a:rPr>
              <a:t>1 controlled trigger • 120-second block • 18 verified artifacts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CFEADCC8-877D-4266-BB84-7299832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ACTIVE RESPONSE • STAKEHOLDER REPORT  •  Ryan Bryant  •  August 29, 2026</a:t>
            </a:r>
          </a:p>
        </p:txBody>
      </p:sp>
      <p:sp>
        <p:nvSpPr>
          <p:cNvPr id="13" name="page-1">
            <a:extLst xmlns:a="http://schemas.openxmlformats.org/drawingml/2006/main">
              <a:ext uri="{FF2B5EF4-FFF2-40B4-BE49-F238E27FC236}">
                <a16:creationId xmlns:a16="http://schemas.microsoft.com/office/drawing/2014/main" id="{427916FD-15EC-4756-9F89-6B27C0B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6574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2">
            <a:extLst xmlns:a="http://schemas.openxmlformats.org/drawingml/2006/main">
              <a:ext uri="{FF2B5EF4-FFF2-40B4-BE49-F238E27FC236}">
                <a16:creationId xmlns:a16="http://schemas.microsoft.com/office/drawing/2014/main" id="{7E4F5FCD-E04F-42E2-8B87-6D36F26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BA8A3B2-B6E1-4753-962C-D0A223FA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One high-confidence alert exercised the full response lifecycle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B6902894-FA1F-4FCB-9BBF-BDEE828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lab proved rule matching, guarded execution, selective containment, timed rollback, and final-state verification.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246AB238-6646-4EED-A16E-8FE8FC3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4AADCED0-4EDF-4EA9-8B9B-7D439ACA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ACTIVE RESPONSE • STAKEHOLDER REPORT  •  Ryan Bryant  •  August 29, 2026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0D787D0D-4BFF-4825-93B7-835D4A1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aw-card">
            <a:extLst xmlns:a="http://schemas.openxmlformats.org/drawingml/2006/main">
              <a:ext uri="{FF2B5EF4-FFF2-40B4-BE49-F238E27FC236}">
                <a16:creationId xmlns:a16="http://schemas.microsoft.com/office/drawing/2014/main" id="{EA829DA6-BEBD-4429-BC78-1FE859F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raw-accent">
            <a:extLst xmlns:a="http://schemas.openxmlformats.org/drawingml/2006/main">
              <a:ext uri="{FF2B5EF4-FFF2-40B4-BE49-F238E27FC236}">
                <a16:creationId xmlns:a16="http://schemas.microsoft.com/office/drawing/2014/main" id="{19116D74-D185-4E14-841C-5C6EBA0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w-stat">
            <a:extLst xmlns:a="http://schemas.openxmlformats.org/drawingml/2006/main">
              <a:ext uri="{FF2B5EF4-FFF2-40B4-BE49-F238E27FC236}">
                <a16:creationId xmlns:a16="http://schemas.microsoft.com/office/drawing/2014/main" id="{48C10571-26BD-48E8-942D-B9FD74F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100120</a:t>
            </a:r>
          </a:p>
        </p:txBody>
      </p:sp>
      <p:sp>
        <p:nvSpPr>
          <p:cNvPr id="10" name="raw-label">
            <a:extLst xmlns:a="http://schemas.openxmlformats.org/drawingml/2006/main">
              <a:ext uri="{FF2B5EF4-FFF2-40B4-BE49-F238E27FC236}">
                <a16:creationId xmlns:a16="http://schemas.microsoft.com/office/drawing/2014/main" id="{E42BE372-865E-4025-A94A-D28F2A4E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Wazuh rule ID</a:t>
            </a:r>
          </a:p>
        </p:txBody>
      </p:sp>
      <p:sp>
        <p:nvSpPr>
          <p:cNvPr id="11" name="raw-detail">
            <a:extLst xmlns:a="http://schemas.openxmlformats.org/drawingml/2006/main">
              <a:ext uri="{FF2B5EF4-FFF2-40B4-BE49-F238E27FC236}">
                <a16:creationId xmlns:a16="http://schemas.microsoft.com/office/drawing/2014/main" id="{CD1F2B0D-C4C7-47E4-BCEB-0B4A9BE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Level 10 required the expected source, destination, and Suricata signature.</a:t>
            </a:r>
          </a:p>
        </p:txBody>
      </p:sp>
      <p:sp>
        <p:nvSpPr>
          <p:cNvPr id="12" name="alerts-card">
            <a:extLst xmlns:a="http://schemas.openxmlformats.org/drawingml/2006/main">
              <a:ext uri="{FF2B5EF4-FFF2-40B4-BE49-F238E27FC236}">
                <a16:creationId xmlns:a16="http://schemas.microsoft.com/office/drawing/2014/main" id="{10605384-E21A-4332-99DC-DD1116C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alerts-accent">
            <a:extLst xmlns:a="http://schemas.openxmlformats.org/drawingml/2006/main">
              <a:ext uri="{FF2B5EF4-FFF2-40B4-BE49-F238E27FC236}">
                <a16:creationId xmlns:a16="http://schemas.microsoft.com/office/drawing/2014/main" id="{D09D0123-49B8-49DF-81AA-8A87FC45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erts-stat">
            <a:extLst xmlns:a="http://schemas.openxmlformats.org/drawingml/2006/main">
              <a:ext uri="{FF2B5EF4-FFF2-40B4-BE49-F238E27FC236}">
                <a16:creationId xmlns:a16="http://schemas.microsoft.com/office/drawing/2014/main" id="{CDECF06F-15B1-41D8-A694-8FFE282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120s</a:t>
            </a:r>
          </a:p>
        </p:txBody>
      </p:sp>
      <p:sp>
        <p:nvSpPr>
          <p:cNvPr id="15" name="alerts-label">
            <a:extLst xmlns:a="http://schemas.openxmlformats.org/drawingml/2006/main">
              <a:ext uri="{FF2B5EF4-FFF2-40B4-BE49-F238E27FC236}">
                <a16:creationId xmlns:a16="http://schemas.microsoft.com/office/drawing/2014/main" id="{4C51684E-4039-4E52-B238-7293D2C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containment window</a:t>
            </a:r>
          </a:p>
        </p:txBody>
      </p:sp>
      <p:sp>
        <p:nvSpPr>
          <p:cNvPr id="16" name="alerts-detail">
            <a:extLst xmlns:a="http://schemas.openxmlformats.org/drawingml/2006/main">
              <a:ext uri="{FF2B5EF4-FFF2-40B4-BE49-F238E27FC236}">
                <a16:creationId xmlns:a16="http://schemas.microsoft.com/office/drawing/2014/main" id="{62517443-E8AC-4EC5-84B4-8DFD03D9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source lost ICMP and HTTP reachability until Wazuh issued the delete action.</a:t>
            </a:r>
          </a:p>
        </p:txBody>
      </p:sp>
      <p:sp>
        <p:nvSpPr>
          <p:cNvPr id="17" name="rules-card">
            <a:extLst xmlns:a="http://schemas.openxmlformats.org/drawingml/2006/main">
              <a:ext uri="{FF2B5EF4-FFF2-40B4-BE49-F238E27FC236}">
                <a16:creationId xmlns:a16="http://schemas.microsoft.com/office/drawing/2014/main" id="{8B3BFDC9-ED68-4D03-98CC-E38867E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rules-accent">
            <a:extLst xmlns:a="http://schemas.openxmlformats.org/drawingml/2006/main">
              <a:ext uri="{FF2B5EF4-FFF2-40B4-BE49-F238E27FC236}">
                <a16:creationId xmlns:a16="http://schemas.microsoft.com/office/drawing/2014/main" id="{30712E81-A3EC-4BB4-895D-969E85E6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B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s-stat">
            <a:extLst xmlns:a="http://schemas.openxmlformats.org/drawingml/2006/main">
              <a:ext uri="{FF2B5EF4-FFF2-40B4-BE49-F238E27FC236}">
                <a16:creationId xmlns:a16="http://schemas.microsoft.com/office/drawing/2014/main" id="{205B75DA-AB4D-4F23-8C34-1A88445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rules-label">
            <a:extLst xmlns:a="http://schemas.openxmlformats.org/drawingml/2006/main">
              <a:ext uri="{FF2B5EF4-FFF2-40B4-BE49-F238E27FC236}">
                <a16:creationId xmlns:a16="http://schemas.microsoft.com/office/drawing/2014/main" id="{85521899-C033-4128-A9D1-72B4248C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residual rules</a:t>
            </a:r>
          </a:p>
        </p:txBody>
      </p:sp>
      <p:sp>
        <p:nvSpPr>
          <p:cNvPr id="21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6A4ECBD5-F2DA-4141-8270-534A6C6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exact labeled iptables rule was absent after automatic recovery.</a:t>
            </a:r>
          </a:p>
        </p:txBody>
      </p:sp>
      <p:sp>
        <p:nvSpPr>
          <p:cNvPr id="22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7A7AF704-9920-48B8-8E96-82B34AC8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0150"/>
            <a:ext cx="11353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3548F2A9-A849-42BB-B1F2-E0FF0F4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CONCLUSION</a:t>
            </a:r>
          </a:p>
        </p:txBody>
      </p:sp>
      <p:sp>
        <p:nvSpPr>
          <p:cNvPr id="24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31F4D4C5-0B1E-40EC-9D38-0985C42B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72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55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response reduced manual reaction time while keeping blast radius, duration, rollback, and evidence explicitly controlled.</a:t>
            </a:r>
          </a:p>
        </p:txBody>
      </p:sp>
    </p:spTree>
    <p:extLst>
      <p:ext uri="{BB962C8B-B14F-4D97-AF65-F5344CB8AC3E}">
        <p14:creationId xmlns:p14="http://schemas.microsoft.com/office/powerpoint/2010/main" val="1108671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5CB2E42D-9DC9-4F62-9B3C-6FD4606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DETECTION CHAIN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1D472FD-DBB3-41B5-A00F-A91089C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A verified detection became a reversible endpoint action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A915AFC-EE78-4E14-920E-8850E70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Guardrails were validated before the manager was allowed to execute the response.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0048F133-0128-440E-B67A-68DDA54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5C248636-B6F5-4C84-A5ED-39669DB9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ACTIVE RESPONSE • STAKEHOLDER REPORT  •  Ryan Bryant  •  August 29, 2026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FEA83E2-4E24-4D6E-A762-42156D0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6D82CF10-7A57-4CF4-BE61-1D8B3AB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1">
            <a:extLst xmlns:a="http://schemas.openxmlformats.org/drawingml/2006/main">
              <a:ext uri="{FF2B5EF4-FFF2-40B4-BE49-F238E27FC236}">
                <a16:creationId xmlns:a16="http://schemas.microsoft.com/office/drawing/2014/main" id="{C0BADFFE-897D-4A32-8ECE-5742E45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01">
            <a:extLst xmlns:a="http://schemas.openxmlformats.org/drawingml/2006/main">
              <a:ext uri="{FF2B5EF4-FFF2-40B4-BE49-F238E27FC236}">
                <a16:creationId xmlns:a16="http://schemas.microsoft.com/office/drawing/2014/main" id="{910247FC-D990-4792-9CDE-809164A8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node-title-01">
            <a:extLst xmlns:a="http://schemas.openxmlformats.org/drawingml/2006/main">
              <a:ext uri="{FF2B5EF4-FFF2-40B4-BE49-F238E27FC236}">
                <a16:creationId xmlns:a16="http://schemas.microsoft.com/office/drawing/2014/main" id="{D638F246-F090-45E8-90DC-DC330674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Detect &amp; authorize</a:t>
            </a:r>
          </a:p>
        </p:txBody>
      </p:sp>
      <p:sp>
        <p:nvSpPr>
          <p:cNvPr id="11" name="node-body-01">
            <a:extLst xmlns:a="http://schemas.openxmlformats.org/drawingml/2006/main">
              <a:ext uri="{FF2B5EF4-FFF2-40B4-BE49-F238E27FC236}">
                <a16:creationId xmlns:a16="http://schemas.microsoft.com/office/drawing/2014/main" id="{B97BD3A0-639D-41F0-A4C9-2C4225BF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Suricata SID 1000001 matched the controlled URI; Wazuh rule 100120 verified source 10.10.10.5 and destination 10.10.10.4.</a:t>
            </a:r>
          </a:p>
        </p:txBody>
      </p:sp>
      <p:sp>
        <p:nvSpPr>
          <p:cNvPr id="12" name="node-02">
            <a:extLst xmlns:a="http://schemas.openxmlformats.org/drawingml/2006/main">
              <a:ext uri="{FF2B5EF4-FFF2-40B4-BE49-F238E27FC236}">
                <a16:creationId xmlns:a16="http://schemas.microsoft.com/office/drawing/2014/main" id="{B0D8F2A1-0695-49CC-B730-2EA8B57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text-02">
            <a:extLst xmlns:a="http://schemas.openxmlformats.org/drawingml/2006/main">
              <a:ext uri="{FF2B5EF4-FFF2-40B4-BE49-F238E27FC236}">
                <a16:creationId xmlns:a16="http://schemas.microsoft.com/office/drawing/2014/main" id="{EDE803D5-3F87-452E-8F30-707F0703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node-title-02">
            <a:extLst xmlns:a="http://schemas.openxmlformats.org/drawingml/2006/main">
              <a:ext uri="{FF2B5EF4-FFF2-40B4-BE49-F238E27FC236}">
                <a16:creationId xmlns:a16="http://schemas.microsoft.com/office/drawing/2014/main" id="{E1BE6DAB-6858-4D7F-80A6-BA335CF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Contain &amp; record</a:t>
            </a:r>
          </a:p>
        </p:txBody>
      </p:sp>
      <p:sp>
        <p:nvSpPr>
          <p:cNvPr id="15" name="node-body-02">
            <a:extLst xmlns:a="http://schemas.openxmlformats.org/drawingml/2006/main">
              <a:ext uri="{FF2B5EF4-FFF2-40B4-BE49-F238E27FC236}">
                <a16:creationId xmlns:a16="http://schemas.microsoft.com/office/drawing/2014/main" id="{E745A114-4667-4919-BFBE-27BB354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A root:wazuh script inserted one labeled iptables DROP rule and logged a successful add action.</a:t>
            </a:r>
          </a:p>
        </p:txBody>
      </p:sp>
      <p:sp>
        <p:nvSpPr>
          <p:cNvPr id="16" name="node-03">
            <a:extLst xmlns:a="http://schemas.openxmlformats.org/drawingml/2006/main">
              <a:ext uri="{FF2B5EF4-FFF2-40B4-BE49-F238E27FC236}">
                <a16:creationId xmlns:a16="http://schemas.microsoft.com/office/drawing/2014/main" id="{4EB195DC-5F10-43EB-9766-4715F95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ext-03">
            <a:extLst xmlns:a="http://schemas.openxmlformats.org/drawingml/2006/main">
              <a:ext uri="{FF2B5EF4-FFF2-40B4-BE49-F238E27FC236}">
                <a16:creationId xmlns:a16="http://schemas.microsoft.com/office/drawing/2014/main" id="{F3588D2E-F1A0-4B84-8597-CFACD5D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node-title-03">
            <a:extLst xmlns:a="http://schemas.openxmlformats.org/drawingml/2006/main">
              <a:ext uri="{FF2B5EF4-FFF2-40B4-BE49-F238E27FC236}">
                <a16:creationId xmlns:a16="http://schemas.microsoft.com/office/drawing/2014/main" id="{A1DB87B8-9E3C-4C4F-8FB0-32A6C047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Recover &amp; verify</a:t>
            </a:r>
          </a:p>
        </p:txBody>
      </p:sp>
      <p:sp>
        <p:nvSpPr>
          <p:cNvPr id="19" name="node-body-03">
            <a:extLst xmlns:a="http://schemas.openxmlformats.org/drawingml/2006/main">
              <a:ext uri="{FF2B5EF4-FFF2-40B4-BE49-F238E27FC236}">
                <a16:creationId xmlns:a16="http://schemas.microsoft.com/office/drawing/2014/main" id="{D9CE5ADA-3040-4207-BD47-507AC79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After 120 seconds, Wazuh sent delete; the script removed only its rule; ping and HTTP 200 returned.</a:t>
            </a:r>
          </a:p>
        </p:txBody>
      </p:sp>
      <p:sp>
        <p:nvSpPr>
          <p:cNvPr id="20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03F693B7-AAB8-4091-A3E0-F5B2B5D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353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note-text">
            <a:extLst xmlns:a="http://schemas.openxmlformats.org/drawingml/2006/main">
              <a:ext uri="{FF2B5EF4-FFF2-40B4-BE49-F238E27FC236}">
                <a16:creationId xmlns:a16="http://schemas.microsoft.com/office/drawing/2014/main" id="{FFBB8D8C-FD17-45C5-A7B6-DC0C60B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414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Control point: source allowlist, destination, signature, exact label, self-test, permissions, backups, logtest, and rollback were verified before triggering.</a:t>
            </a:r>
          </a:p>
        </p:txBody>
      </p:sp>
    </p:spTree>
    <p:extLst>
      <p:ext uri="{BB962C8B-B14F-4D97-AF65-F5344CB8AC3E}">
        <p14:creationId xmlns:p14="http://schemas.microsoft.com/office/powerpoint/2010/main" val="284331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4">
            <a:extLst xmlns:a="http://schemas.openxmlformats.org/drawingml/2006/main">
              <a:ext uri="{FF2B5EF4-FFF2-40B4-BE49-F238E27FC236}">
                <a16:creationId xmlns:a16="http://schemas.microsoft.com/office/drawing/2014/main" id="{6FB0601A-3A58-4B27-B1F5-727376C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E48303E-F124-41B2-BA86-563BD54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Independent artifacts prove authorization, impact, and recovery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E973D22-5C13-4F6F-9D08-C96B92B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Manager, network, and endpoint evidence align on the same controlled response.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A0CA1FFB-EDE3-4F2F-A348-A10406B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4EBD8BF-1387-48CF-9D0B-EA4C520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ACTIVE RESPONSE • STAKEHOLDER REPORT  •  Ryan Bryant  •  August 29, 2026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5389627C-FDF7-4EB9-B9E6-DE4F135E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hits-frame">
            <a:extLst xmlns:a="http://schemas.openxmlformats.org/drawingml/2006/main">
              <a:ext uri="{FF2B5EF4-FFF2-40B4-BE49-F238E27FC236}">
                <a16:creationId xmlns:a16="http://schemas.microsoft.com/office/drawing/2014/main" id="{B387D65E-ABB9-4060-9844-E1530EC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54483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1a37609dd47f0"/>
          <a:stretch xmlns:a="http://schemas.openxmlformats.org/drawingml/2006/main"/>
        </p:blipFill>
        <p:spPr>
          <a:xfrm xmlns:a="http://schemas.openxmlformats.org/drawingml/2006/main">
            <a:off x="419100" y="2816241"/>
            <a:ext cx="5372100" cy="1739867"/>
          </a:xfrm>
          <a:prstGeom xmlns:a="http://schemas.openxmlformats.org/drawingml/2006/main" prst="roundRect">
            <a:avLst/>
          </a:prstGeom>
        </p:spPr>
      </p:pic>
      <p:sp>
        <p:nvSpPr>
          <p:cNvPr id="9" name="hits-caption">
            <a:extLst xmlns:a="http://schemas.openxmlformats.org/drawingml/2006/main">
              <a:ext uri="{FF2B5EF4-FFF2-40B4-BE49-F238E27FC236}">
                <a16:creationId xmlns:a16="http://schemas.microsoft.com/office/drawing/2014/main" id="{BAB9801B-9180-4A9D-8A3E-9E1280A7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Manager alert • rule 100120 • level 10 • expected source and SID</a:t>
            </a:r>
          </a:p>
        </p:txBody>
      </p:sp>
      <p:sp>
        <p:nvSpPr>
          <p:cNvPr id="10" name="success-rule-frame">
            <a:extLst xmlns:a="http://schemas.openxmlformats.org/drawingml/2006/main">
              <a:ext uri="{FF2B5EF4-FFF2-40B4-BE49-F238E27FC236}">
                <a16:creationId xmlns:a16="http://schemas.microsoft.com/office/drawing/2014/main" id="{B6CCBE43-B11A-494F-A0A5-FAC2FFC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56578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f9080af354da4"/>
          <a:stretch xmlns:a="http://schemas.openxmlformats.org/drawingml/2006/main"/>
        </p:blipFill>
        <p:spPr>
          <a:xfrm xmlns:a="http://schemas.openxmlformats.org/drawingml/2006/main">
            <a:off x="8374351" y="1954681"/>
            <a:ext cx="1215448" cy="1786587"/>
          </a:xfrm>
          <a:prstGeom xmlns:a="http://schemas.openxmlformats.org/drawingml/2006/main" prst="roundRect">
            <a:avLst/>
          </a:prstGeom>
        </p:spPr>
      </p:pic>
      <p:sp>
        <p:nvSpPr>
          <p:cNvPr id="12" name="success-caption">
            <a:extLst xmlns:a="http://schemas.openxmlformats.org/drawingml/2006/main">
              <a:ext uri="{FF2B5EF4-FFF2-40B4-BE49-F238E27FC236}">
                <a16:creationId xmlns:a16="http://schemas.microsoft.com/office/drawing/2014/main" id="{5636E3F7-F25F-4DEF-84EC-BDC0B40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Baseline 200 • containment 000 • restored 200</a:t>
            </a:r>
          </a:p>
        </p:txBody>
      </p:sp>
      <p:sp>
        <p:nvSpPr>
          <p:cNvPr id="13" name="command-rule-frame">
            <a:extLst xmlns:a="http://schemas.openxmlformats.org/drawingml/2006/main">
              <a:ext uri="{FF2B5EF4-FFF2-40B4-BE49-F238E27FC236}">
                <a16:creationId xmlns:a16="http://schemas.microsoft.com/office/drawing/2014/main" id="{B7588CB8-14A1-4FA1-BC3C-6ADE3E4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56578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e06013dec48fd"/>
          <a:stretch xmlns:a="http://schemas.openxmlformats.org/drawingml/2006/main"/>
        </p:blipFill>
        <p:spPr>
          <a:xfrm xmlns:a="http://schemas.openxmlformats.org/drawingml/2006/main">
            <a:off x="6442844" y="4605330"/>
            <a:ext cx="5078462" cy="904890"/>
          </a:xfrm>
          <a:prstGeom xmlns:a="http://schemas.openxmlformats.org/drawingml/2006/main" prst="roundRect">
            <a:avLst/>
          </a:prstGeom>
        </p:spPr>
      </p:pic>
      <p:sp>
        <p:nvSpPr>
          <p:cNvPr id="15" name="command-caption">
            <a:extLst xmlns:a="http://schemas.openxmlformats.org/drawingml/2006/main">
              <a:ext uri="{FF2B5EF4-FFF2-40B4-BE49-F238E27FC236}">
                <a16:creationId xmlns:a16="http://schemas.microsoft.com/office/drawing/2014/main" id="{7D0E54F6-48CE-4FC7-8FC4-F2ACBCE8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Endpoint log • successful add and delete • rule removed</a:t>
            </a:r>
          </a:p>
        </p:txBody>
      </p:sp>
    </p:spTree>
    <p:extLst>
      <p:ext uri="{BB962C8B-B14F-4D97-AF65-F5344CB8AC3E}">
        <p14:creationId xmlns:p14="http://schemas.microsoft.com/office/powerpoint/2010/main" val="58867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6059D533-AF39-4FB8-BB16-915013E2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RISK AND OPERATING IMPACT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254553C-ED43-4D97-B6A8-C8E2549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Automation accelerated a bounded, reversible response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8EEEBBF8-784D-4994-B3F5-6E64EB7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exercise validates one bounded workflow, not production false-positive rates or enterprise firewall diversity.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76E9B202-281A-4D13-A1D3-17F834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CB152FB4-D7B1-4AB6-A54E-CAD8B0F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ACTIVE RESPONSE • STAKEHOLDER REPORT  •  Ryan Bryant  •  August 29, 2026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A698F23-54D9-44F8-AC5E-7E845363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impact-0">
            <a:extLst xmlns:a="http://schemas.openxmlformats.org/drawingml/2006/main">
              <a:ext uri="{FF2B5EF4-FFF2-40B4-BE49-F238E27FC236}">
                <a16:creationId xmlns:a16="http://schemas.microsoft.com/office/drawing/2014/main" id="{40C3DB81-AAC5-4C6E-8938-0260FD1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label-0">
            <a:extLst xmlns:a="http://schemas.openxmlformats.org/drawingml/2006/main">
              <a:ext uri="{FF2B5EF4-FFF2-40B4-BE49-F238E27FC236}">
                <a16:creationId xmlns:a16="http://schemas.microsoft.com/office/drawing/2014/main" id="{383C680A-AB26-44DA-9F77-C871BD5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CONTAINMENT VALUE</a:t>
            </a:r>
          </a:p>
        </p:txBody>
      </p:sp>
      <p:sp>
        <p:nvSpPr>
          <p:cNvPr id="9" name="impact-head-0">
            <a:extLst xmlns:a="http://schemas.openxmlformats.org/drawingml/2006/main">
              <a:ext uri="{FF2B5EF4-FFF2-40B4-BE49-F238E27FC236}">
                <a16:creationId xmlns:a16="http://schemas.microsoft.com/office/drawing/2014/main" id="{2C29079B-8FAF-4DCB-8E67-D54E285B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Reaction became immediate</a:t>
            </a:r>
          </a:p>
        </p:txBody>
      </p:sp>
      <p:sp>
        <p:nvSpPr>
          <p:cNvPr id="10" name="impact-body-0">
            <a:extLst xmlns:a="http://schemas.openxmlformats.org/drawingml/2006/main">
              <a:ext uri="{FF2B5EF4-FFF2-40B4-BE49-F238E27FC236}">
                <a16:creationId xmlns:a16="http://schemas.microsoft.com/office/drawing/2014/main" id="{30698E5F-5C26-4B26-BC6D-E1E0C37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A verified SIEM alert automatically blocked the authorized source without waiting for a manual firewall change.</a:t>
            </a:r>
          </a:p>
        </p:txBody>
      </p:sp>
      <p:sp>
        <p:nvSpPr>
          <p:cNvPr id="11" name="impact-1">
            <a:extLst xmlns:a="http://schemas.openxmlformats.org/drawingml/2006/main">
              <a:ext uri="{FF2B5EF4-FFF2-40B4-BE49-F238E27FC236}">
                <a16:creationId xmlns:a16="http://schemas.microsoft.com/office/drawing/2014/main" id="{C7B91995-040E-41DF-B226-F26D799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act-label-1">
            <a:extLst xmlns:a="http://schemas.openxmlformats.org/drawingml/2006/main">
              <a:ext uri="{FF2B5EF4-FFF2-40B4-BE49-F238E27FC236}">
                <a16:creationId xmlns:a16="http://schemas.microsoft.com/office/drawing/2014/main" id="{668D1B8E-2AF5-408D-BAAF-2B208B6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13" name="impact-head-1">
            <a:extLst xmlns:a="http://schemas.openxmlformats.org/drawingml/2006/main">
              <a:ext uri="{FF2B5EF4-FFF2-40B4-BE49-F238E27FC236}">
                <a16:creationId xmlns:a16="http://schemas.microsoft.com/office/drawing/2014/main" id="{521CD996-4559-435E-B829-315F856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Blast radius stayed explicit</a:t>
            </a:r>
          </a:p>
        </p:txBody>
      </p:sp>
      <p:sp>
        <p:nvSpPr>
          <p:cNvPr id="14" name="impact-body-1">
            <a:extLst xmlns:a="http://schemas.openxmlformats.org/drawingml/2006/main">
              <a:ext uri="{FF2B5EF4-FFF2-40B4-BE49-F238E27FC236}">
                <a16:creationId xmlns:a16="http://schemas.microsoft.com/office/drawing/2014/main" id="{F9BCEE65-93D6-4577-88A0-A585575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Only one source, destination, signature, and exact labeled rule were permitted by the script.</a:t>
            </a:r>
          </a:p>
        </p:txBody>
      </p:sp>
      <p:sp>
        <p:nvSpPr>
          <p:cNvPr id="15" name="impact-2">
            <a:extLst xmlns:a="http://schemas.openxmlformats.org/drawingml/2006/main">
              <a:ext uri="{FF2B5EF4-FFF2-40B4-BE49-F238E27FC236}">
                <a16:creationId xmlns:a16="http://schemas.microsoft.com/office/drawing/2014/main" id="{DE3C646C-0A85-4067-A7BC-BC42671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pact-label-2">
            <a:extLst xmlns:a="http://schemas.openxmlformats.org/drawingml/2006/main">
              <a:ext uri="{FF2B5EF4-FFF2-40B4-BE49-F238E27FC236}">
                <a16:creationId xmlns:a16="http://schemas.microsoft.com/office/drawing/2014/main" id="{04AAD93E-AA4D-40BD-A7E0-4B8BAE4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9A6B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6B00"/>
                </a:solidFill>
                <a:latin typeface="Arial"/>
                <a:ea typeface="Arial"/>
                <a:cs typeface="Arial"/>
              </a:rPr>
              <a:t>RECOVERY CONFIDENCE</a:t>
            </a:r>
          </a:p>
        </p:txBody>
      </p:sp>
      <p:sp>
        <p:nvSpPr>
          <p:cNvPr id="17" name="impact-head-2">
            <a:extLst xmlns:a="http://schemas.openxmlformats.org/drawingml/2006/main">
              <a:ext uri="{FF2B5EF4-FFF2-40B4-BE49-F238E27FC236}">
                <a16:creationId xmlns:a16="http://schemas.microsoft.com/office/drawing/2014/main" id="{C68C2ED5-E93E-4CFF-8EB4-7F12665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Rollback was observable</a:t>
            </a:r>
          </a:p>
        </p:txBody>
      </p:sp>
      <p:sp>
        <p:nvSpPr>
          <p:cNvPr id="18" name="impact-body-2">
            <a:extLst xmlns:a="http://schemas.openxmlformats.org/drawingml/2006/main">
              <a:ext uri="{FF2B5EF4-FFF2-40B4-BE49-F238E27FC236}">
                <a16:creationId xmlns:a16="http://schemas.microsoft.com/office/drawing/2014/main" id="{22824B79-B106-4464-8210-8E67FAE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Successful delete logs, restored ping and HTTP 200, and an absent residual rule confirmed recovery.</a:t>
            </a:r>
          </a:p>
        </p:txBody>
      </p:sp>
      <p:sp>
        <p:nvSpPr>
          <p:cNvPr id="19" name="risk-band">
            <a:extLst xmlns:a="http://schemas.openxmlformats.org/drawingml/2006/main">
              <a:ext uri="{FF2B5EF4-FFF2-40B4-BE49-F238E27FC236}">
                <a16:creationId xmlns:a16="http://schemas.microsoft.com/office/drawing/2014/main" id="{A3161B1F-2006-4BEB-883F-F6A5543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0"/>
            <a:ext cx="11125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band-text">
            <a:extLst xmlns:a="http://schemas.openxmlformats.org/drawingml/2006/main">
              <a:ext uri="{FF2B5EF4-FFF2-40B4-BE49-F238E27FC236}">
                <a16:creationId xmlns:a16="http://schemas.microsoft.com/office/drawing/2014/main" id="{0AA27802-F194-4E7C-BD4F-B87B6D4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Limit: one controlled source and iptables backend do not establish production false-positive rates, repeated-offender behavior, IPv6 handling, or multi-endpoint reliability.</a:t>
            </a:r>
          </a:p>
        </p:txBody>
      </p:sp>
    </p:spTree>
    <p:extLst>
      <p:ext uri="{BB962C8B-B14F-4D97-AF65-F5344CB8AC3E}">
        <p14:creationId xmlns:p14="http://schemas.microsoft.com/office/powerpoint/2010/main" val="1504036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6">
            <a:extLst xmlns:a="http://schemas.openxmlformats.org/drawingml/2006/main">
              <a:ext uri="{FF2B5EF4-FFF2-40B4-BE49-F238E27FC236}">
                <a16:creationId xmlns:a16="http://schemas.microsoft.com/office/drawing/2014/main" id="{3A3F0F0B-434A-4D27-850B-A9364B3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96F5DD6-FB54-4F5D-AB52-6DFC829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Operationalize the response capability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FA1EFB08-27C0-4206-85D5-5F218E1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Priorities preserve safety as the workflow expands beyond a single lab endpoint.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E6074FD8-5BAC-42F0-828B-CB00442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CCC2312F-C03A-413A-B2C8-6F479F2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ACTIVE RESPONSE • STAKEHOLDER REPORT  •  Ryan Bryant  •  August 29, 2026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61BB881A-E3D6-4030-85E8-7FA9197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-num-0">
            <a:extLst xmlns:a="http://schemas.openxmlformats.org/drawingml/2006/main">
              <a:ext uri="{FF2B5EF4-FFF2-40B4-BE49-F238E27FC236}">
                <a16:creationId xmlns:a16="http://schemas.microsoft.com/office/drawing/2014/main" id="{5280EFF1-9496-4FC9-B80E-00539D1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num-text-0">
            <a:extLst xmlns:a="http://schemas.openxmlformats.org/drawingml/2006/main">
              <a:ext uri="{FF2B5EF4-FFF2-40B4-BE49-F238E27FC236}">
                <a16:creationId xmlns:a16="http://schemas.microsoft.com/office/drawing/2014/main" id="{09C78E1E-CDDE-40BE-9A83-ACF4D65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-title-0">
            <a:extLst xmlns:a="http://schemas.openxmlformats.org/drawingml/2006/main">
              <a:ext uri="{FF2B5EF4-FFF2-40B4-BE49-F238E27FC236}">
                <a16:creationId xmlns:a16="http://schemas.microsoft.com/office/drawing/2014/main" id="{AEAAFD96-4478-42AC-8767-5099F6F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Exact guardrails</a:t>
            </a:r>
          </a:p>
        </p:txBody>
      </p:sp>
      <p:sp>
        <p:nvSpPr>
          <p:cNvPr id="10" name="rec-body-0">
            <a:extLst xmlns:a="http://schemas.openxmlformats.org/drawingml/2006/main">
              <a:ext uri="{FF2B5EF4-FFF2-40B4-BE49-F238E27FC236}">
                <a16:creationId xmlns:a16="http://schemas.microsoft.com/office/drawing/2014/main" id="{39EA846B-2692-4B90-AAA9-663E75C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Require allowlists, exact conditions, labeled rules, and a short default timeout for every automated block.</a:t>
            </a:r>
          </a:p>
        </p:txBody>
      </p:sp>
      <p:sp>
        <p:nvSpPr>
          <p:cNvPr id="11" name="rec-line-0">
            <a:extLst xmlns:a="http://schemas.openxmlformats.org/drawingml/2006/main">
              <a:ext uri="{FF2B5EF4-FFF2-40B4-BE49-F238E27FC236}">
                <a16:creationId xmlns:a16="http://schemas.microsoft.com/office/drawing/2014/main" id="{9EFB90A0-EE9A-403A-B287-B4F4FA9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-num-1">
            <a:extLst xmlns:a="http://schemas.openxmlformats.org/drawingml/2006/main">
              <a:ext uri="{FF2B5EF4-FFF2-40B4-BE49-F238E27FC236}">
                <a16:creationId xmlns:a16="http://schemas.microsoft.com/office/drawing/2014/main" id="{353C0AB1-73BB-4079-B689-7D8C519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-num-text-1">
            <a:extLst xmlns:a="http://schemas.openxmlformats.org/drawingml/2006/main">
              <a:ext uri="{FF2B5EF4-FFF2-40B4-BE49-F238E27FC236}">
                <a16:creationId xmlns:a16="http://schemas.microsoft.com/office/drawing/2014/main" id="{B8DC18CA-A4FD-4DBF-A325-62EDCE3F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-title-1">
            <a:extLst xmlns:a="http://schemas.openxmlformats.org/drawingml/2006/main">
              <a:ext uri="{FF2B5EF4-FFF2-40B4-BE49-F238E27FC236}">
                <a16:creationId xmlns:a16="http://schemas.microsoft.com/office/drawing/2014/main" id="{5F05EEBB-97DC-4CDA-AE37-FF3B80C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Rollback monitoring</a:t>
            </a:r>
          </a:p>
        </p:txBody>
      </p:sp>
      <p:sp>
        <p:nvSpPr>
          <p:cNvPr id="15" name="rec-body-1">
            <a:extLst xmlns:a="http://schemas.openxmlformats.org/drawingml/2006/main">
              <a:ext uri="{FF2B5EF4-FFF2-40B4-BE49-F238E27FC236}">
                <a16:creationId xmlns:a16="http://schemas.microsoft.com/office/drawing/2014/main" id="{7B80B771-1DA4-459D-9D44-20387AD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Alert on failed add/delete actions and regularly test that timed recovery still succeeds.</a:t>
            </a:r>
          </a:p>
        </p:txBody>
      </p:sp>
      <p:sp>
        <p:nvSpPr>
          <p:cNvPr id="16" name="rec-line-1">
            <a:extLst xmlns:a="http://schemas.openxmlformats.org/drawingml/2006/main">
              <a:ext uri="{FF2B5EF4-FFF2-40B4-BE49-F238E27FC236}">
                <a16:creationId xmlns:a16="http://schemas.microsoft.com/office/drawing/2014/main" id="{D7AA68A8-3815-4D36-B6C5-6D41210E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-num-2">
            <a:extLst xmlns:a="http://schemas.openxmlformats.org/drawingml/2006/main">
              <a:ext uri="{FF2B5EF4-FFF2-40B4-BE49-F238E27FC236}">
                <a16:creationId xmlns:a16="http://schemas.microsoft.com/office/drawing/2014/main" id="{8C000330-52DB-4B63-9ACF-58F0563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-num-text-2">
            <a:extLst xmlns:a="http://schemas.openxmlformats.org/drawingml/2006/main">
              <a:ext uri="{FF2B5EF4-FFF2-40B4-BE49-F238E27FC236}">
                <a16:creationId xmlns:a16="http://schemas.microsoft.com/office/drawing/2014/main" id="{087FC2FC-A5DC-4A38-955C-FCB8D93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-title-2">
            <a:extLst xmlns:a="http://schemas.openxmlformats.org/drawingml/2006/main">
              <a:ext uri="{FF2B5EF4-FFF2-40B4-BE49-F238E27FC236}">
                <a16:creationId xmlns:a16="http://schemas.microsoft.com/office/drawing/2014/main" id="{5EC59FD6-59EA-4665-B7D5-078758C0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Change controls</a:t>
            </a:r>
          </a:p>
        </p:txBody>
      </p:sp>
      <p:sp>
        <p:nvSpPr>
          <p:cNvPr id="20" name="rec-body-2">
            <a:extLst xmlns:a="http://schemas.openxmlformats.org/drawingml/2006/main">
              <a:ext uri="{FF2B5EF4-FFF2-40B4-BE49-F238E27FC236}">
                <a16:creationId xmlns:a16="http://schemas.microsoft.com/office/drawing/2014/main" id="{B44680AE-D150-4C3A-A486-C76CEB1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Require backups, self-tests, rule validation, peer review, and an owner before activation.</a:t>
            </a:r>
          </a:p>
        </p:txBody>
      </p:sp>
      <p:sp>
        <p:nvSpPr>
          <p:cNvPr id="21" name="rec-line-2">
            <a:extLst xmlns:a="http://schemas.openxmlformats.org/drawingml/2006/main">
              <a:ext uri="{FF2B5EF4-FFF2-40B4-BE49-F238E27FC236}">
                <a16:creationId xmlns:a16="http://schemas.microsoft.com/office/drawing/2014/main" id="{0075F3CC-AF20-4141-8A01-29B3921C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-num-3">
            <a:extLst xmlns:a="http://schemas.openxmlformats.org/drawingml/2006/main">
              <a:ext uri="{FF2B5EF4-FFF2-40B4-BE49-F238E27FC236}">
                <a16:creationId xmlns:a16="http://schemas.microsoft.com/office/drawing/2014/main" id="{829B5B47-CBE8-420F-B213-D3927996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-num-text-3">
            <a:extLst xmlns:a="http://schemas.openxmlformats.org/drawingml/2006/main">
              <a:ext uri="{FF2B5EF4-FFF2-40B4-BE49-F238E27FC236}">
                <a16:creationId xmlns:a16="http://schemas.microsoft.com/office/drawing/2014/main" id="{268BF5D2-287F-4851-B209-51ED830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-title-3">
            <a:extLst xmlns:a="http://schemas.openxmlformats.org/drawingml/2006/main">
              <a:ext uri="{FF2B5EF4-FFF2-40B4-BE49-F238E27FC236}">
                <a16:creationId xmlns:a16="http://schemas.microsoft.com/office/drawing/2014/main" id="{D9ECCA97-2D58-403B-B2E1-D253A66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Response metrics</a:t>
            </a:r>
          </a:p>
        </p:txBody>
      </p:sp>
      <p:sp>
        <p:nvSpPr>
          <p:cNvPr id="25" name="rec-body-3">
            <a:extLst xmlns:a="http://schemas.openxmlformats.org/drawingml/2006/main">
              <a:ext uri="{FF2B5EF4-FFF2-40B4-BE49-F238E27FC236}">
                <a16:creationId xmlns:a16="http://schemas.microsoft.com/office/drawing/2014/main" id="{1B100479-D7F1-4B15-ADF0-43C4728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Track triggers, successful adds/deletes, duration, recurrence, exceptions, and business impact.</a:t>
            </a:r>
          </a:p>
        </p:txBody>
      </p:sp>
      <p:sp>
        <p:nvSpPr>
          <p:cNvPr id="26" name="decision">
            <a:extLst xmlns:a="http://schemas.openxmlformats.org/drawingml/2006/main">
              <a:ext uri="{FF2B5EF4-FFF2-40B4-BE49-F238E27FC236}">
                <a16:creationId xmlns:a16="http://schemas.microsoft.com/office/drawing/2014/main" id="{3E3D6020-D1FD-46D4-9DB9-25C92D6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1353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705CB56D-3C80-4330-BD1A-47BC7F5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Decision request: preserve the integration and advance only through a limited pilot with exception handling, rollback alerts, and named ownership.</a:t>
            </a:r>
          </a:p>
        </p:txBody>
      </p:sp>
    </p:spTree>
    <p:extLst>
      <p:ext uri="{BB962C8B-B14F-4D97-AF65-F5344CB8AC3E}">
        <p14:creationId xmlns:p14="http://schemas.microsoft.com/office/powerpoint/2010/main" val="1416797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2026-08-29T20:11:09.3320000Z</dcterms:created>
  <dcterms:modified xsi:type="dcterms:W3CDTF">2026-08-29T20:11:09.3320000Z</dcterms:modified>
</coreProperties>
</file>