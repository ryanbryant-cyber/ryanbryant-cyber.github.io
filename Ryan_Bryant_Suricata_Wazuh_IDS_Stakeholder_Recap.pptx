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82d691f164208" /><Relationship Type="http://schemas.openxmlformats.org/officeDocument/2006/relationships/extended-properties" Target="/docProps/app.xml" Id="Rbfea621132084ad7" /><Relationship Type="http://schemas.openxmlformats.org/officeDocument/2006/relationships/officeDocument" Target="/ppt/presentation.xml" Id="R06c639ab6c92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52fac4f844f1e"/>
  </p:sldMasterIdLst>
  <p:notesMasterIdLst>
    <p:notesMasterId xmlns:r="http://schemas.openxmlformats.org/officeDocument/2006/relationships" r:id="R38b250ce986940c5"/>
  </p:notesMasterIdLst>
  <p:sldIdLst>
    <p:sldId xmlns:r="http://schemas.openxmlformats.org/officeDocument/2006/relationships" id="256" r:id="Re791fc767e8a4955"/>
    <p:sldId xmlns:r="http://schemas.openxmlformats.org/officeDocument/2006/relationships" id="257" r:id="Rb9383044a67f49b0"/>
    <p:sldId xmlns:r="http://schemas.openxmlformats.org/officeDocument/2006/relationships" id="258" r:id="Ree225a1a93444281"/>
    <p:sldId xmlns:r="http://schemas.openxmlformats.org/officeDocument/2006/relationships" id="259" r:id="Rf6337eb24a0d4ac7"/>
    <p:sldId xmlns:r="http://schemas.openxmlformats.org/officeDocument/2006/relationships" id="260" r:id="R8647fd7870de486d"/>
    <p:sldId xmlns:r="http://schemas.openxmlformats.org/officeDocument/2006/relationships" id="261" r:id="R5c8278c6fdc846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e1cb20d0244e15" /><Relationship Type="http://schemas.openxmlformats.org/officeDocument/2006/relationships/slideMaster" Target="/ppt/slideMasters/slideMaster1.xml" Id="Rb1652fac4f844f1e" /><Relationship Type="http://schemas.openxmlformats.org/officeDocument/2006/relationships/notesMaster" Target="/ppt/notesMasters/notesMaster1.xml" Id="R38b250ce986940c5" /><Relationship Type="http://schemas.openxmlformats.org/officeDocument/2006/relationships/presProps" Target="/ppt/presProps.xml" Id="R38c5119e68724395" /><Relationship Type="http://schemas.openxmlformats.org/officeDocument/2006/relationships/tableStyles" Target="/ppt/tableStyles.xml" Id="R81aa3e2b38764f45" /><Relationship Type="http://schemas.openxmlformats.org/officeDocument/2006/relationships/slide" Target="/ppt/slides/slide1.xml" Id="Re791fc767e8a4955" /><Relationship Type="http://schemas.openxmlformats.org/officeDocument/2006/relationships/slide" Target="/ppt/slides/slide2.xml" Id="Rb9383044a67f49b0" /><Relationship Type="http://schemas.openxmlformats.org/officeDocument/2006/relationships/slide" Target="/ppt/slides/slide3.xml" Id="Ree225a1a93444281" /><Relationship Type="http://schemas.openxmlformats.org/officeDocument/2006/relationships/slide" Target="/ppt/slides/slide4.xml" Id="Rf6337eb24a0d4ac7" /><Relationship Type="http://schemas.openxmlformats.org/officeDocument/2006/relationships/slide" Target="/ppt/slides/slide5.xml" Id="R8647fd7870de486d" /><Relationship Type="http://schemas.openxmlformats.org/officeDocument/2006/relationships/slide" Target="/ppt/slides/slide6.xml" Id="R5c8278c6fdc846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15c80c5a72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138498bc7427e" /><Relationship Type="http://schemas.openxmlformats.org/officeDocument/2006/relationships/notesMaster" Target="/ppt/notesMasters/notesMaster1.xml" Id="Rb4b5e7c06a8b4f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ceea0fdee4490" /><Relationship Type="http://schemas.openxmlformats.org/officeDocument/2006/relationships/notesMaster" Target="/ppt/notesMasters/notesMaster1.xml" Id="Rebc9d728ff31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1dd3691df4ab5" /><Relationship Type="http://schemas.openxmlformats.org/officeDocument/2006/relationships/notesMaster" Target="/ppt/notesMasters/notesMaster1.xml" Id="R98e53406ff5b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7b076837b49ee" /><Relationship Type="http://schemas.openxmlformats.org/officeDocument/2006/relationships/notesMaster" Target="/ppt/notesMasters/notesMaster1.xml" Id="Raa07172cc60049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bc62081fa54d89" /><Relationship Type="http://schemas.openxmlformats.org/officeDocument/2006/relationships/notesMaster" Target="/ppt/notesMasters/notesMaster1.xml" Id="R9df5de1fb09b49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7323e45be54e71" /><Relationship Type="http://schemas.openxmlformats.org/officeDocument/2006/relationships/notesMaster" Target="/ppt/notesMasters/notesMaster1.xml" Id="R1ecac6cf78c14b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evidence captured by Ryan Bryant, August 28, 2026.</a:t>
            </a:r>
          </a:p>
          <a:p xmlns:a="http://schemas.openxmlformats.org/drawingml/2006/main">
            <a:r>
              <a:t>- https://documentation.wazuh.com/current/proof-of-concept-guide/integrate-network-ids-suricata.html (accessed August 28,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alert exports and SHA-256 verification, August 28,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configuration and service-status evidence, August 28, 2026.</a:t>
            </a:r>
          </a:p>
          <a:p xmlns:a="http://schemas.openxmlformats.org/drawingml/2006/main">
            <a:r>
              <a:t>- https://docs.suricata.io/en/latest/output/eve/eve-json-format.html (accessed August 28, 2026)</a:t>
            </a:r>
          </a:p>
          <a:p xmlns:a="http://schemas.openxmlformats.org/drawingml/2006/main">
            <a:r>
              <a:t>- https://documentation.wazuh.com/current/user-manual/reference/ossec-conf/localfile.html (accessed August 28,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Wazuh Discover screenshots and Suricata alert exports, August 28,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availability, alert-count, and integrity evidence, August 28,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Recommendations are analyst inferences from the controlled lab findings.</a:t>
            </a:r>
          </a:p>
          <a:p xmlns:a="http://schemas.openxmlformats.org/drawingml/2006/main">
            <a:r>
              <a:t>- https://docs.suricata.io/en/latest/rules/intro.html (accessed August 28, 2026)</a:t>
            </a:r>
          </a:p>
          <a:p xmlns:a="http://schemas.openxmlformats.org/drawingml/2006/main">
            <a:r>
              <a:t>- https://docs.suricata.io/en/latest/rule-management/suricata-update.html (accessed August 28,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afbdb03074f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ba025e20c480c" /><Relationship Type="http://schemas.openxmlformats.org/officeDocument/2006/relationships/slideLayout" Target="/ppt/slideLayouts/slideLayout1.xml" Id="Rd2a2109205bb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a2109205bb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5c428396244a9" /><Relationship Type="http://schemas.openxmlformats.org/officeDocument/2006/relationships/image" Target="/ppt/media/image.png" Id="Rc77216311c0d492c" /><Relationship Type="http://schemas.openxmlformats.org/officeDocument/2006/relationships/notesSlide" Target="/ppt/notesSlides/notesSlide1.xml" Id="R6761b8a8052d42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3c58858244e0" /><Relationship Type="http://schemas.openxmlformats.org/officeDocument/2006/relationships/notesSlide" Target="/ppt/notesSlides/notesSlide2.xml" Id="R81ebf18c88fb48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fadd1778496e" /><Relationship Type="http://schemas.openxmlformats.org/officeDocument/2006/relationships/notesSlide" Target="/ppt/notesSlides/notesSlide3.xml" Id="Rb7aa28d391b940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7a3fa1c7f481d" /><Relationship Type="http://schemas.openxmlformats.org/officeDocument/2006/relationships/image" Target="/ppt/media/image2.png" Id="R65e16bc736bf4279" /><Relationship Type="http://schemas.openxmlformats.org/officeDocument/2006/relationships/image" Target="/ppt/media/image3.png" Id="Rd8ab0bf889534802" /><Relationship Type="http://schemas.openxmlformats.org/officeDocument/2006/relationships/image" Target="/ppt/media/image4.png" Id="R35be3ca2192a4e4e" /><Relationship Type="http://schemas.openxmlformats.org/officeDocument/2006/relationships/notesSlide" Target="/ppt/notesSlides/notesSlide4.xml" Id="R2784a1edcd7c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a58d2dbe4571" /><Relationship Type="http://schemas.openxmlformats.org/officeDocument/2006/relationships/notesSlide" Target="/ppt/notesSlides/notesSlide5.xml" Id="R556bd36fff8d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73a3472d447bd" /><Relationship Type="http://schemas.openxmlformats.org/officeDocument/2006/relationships/notesSlide" Target="/ppt/notesSlides/notesSlide6.xml" Id="R630749897f0945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CF44FE1-06A9-48AE-B374-F4D767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NETWORK IDS &amp; SIEM VALIDATION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4AC9E68C-2D51-4C23-B680-9A63794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3F9B40AB-A7A2-44C0-885B-70179E9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D06142-A9B3-41BA-8553-8EA40E0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Suricata + Wazuh
IDS monitoring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732A6-69BB-4294-A1E6-013B37D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network sensor converted controlled ICMP and HTTP traffic into searchable Wazuh alerts with preserved context.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411F8D79-3DFD-481B-B970-A54E45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10BC8244-A64D-4DF7-A100-8CC8573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ED4AF8B3-988C-4368-A29F-4CEE3B6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21 end-to-end alerts validated across default and custom detections.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5987091B-4080-4195-9F14-AB07035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216311c0d492c"/>
          <a:srcRect xmlns:a="http://schemas.openxmlformats.org/drawingml/2006/main" l="22675" t="0" r="226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15050" y="514350"/>
            <a:ext cx="5429250" cy="5353050"/>
          </a:xfrm>
          <a:prstGeom xmlns:a="http://schemas.openxmlformats.org/drawingml/2006/main" prst="roundRect">
            <a:avLst/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F861073-3DD2-4EF7-8B84-3C3A230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20 ICMP alerts • 1 custom HTTP alert • 15 verified artifacts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CFEADCC8-877D-4266-BB84-7299832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27916FD-15EC-4756-9F89-6B27C0B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57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7E4F5FCD-E04F-42E2-8B87-6D36F2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A8A3B2-B6E1-4753-962C-D0A223F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Twenty-one alerts validated the full monitoring chain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6902894-FA1F-4FCB-9BBF-BDEE828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lab proved sensor health, EVE JSON collection, default and custom rule matching, and evidence integrity.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46AB238-6646-4EED-A16E-8FE8FC3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AADCED0-4EDF-4EA9-8B9B-7D439AC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D787D0D-4BFF-4825-93B7-835D4A1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aw-card">
            <a:extLst xmlns:a="http://schemas.openxmlformats.org/drawingml/2006/main">
              <a:ext uri="{FF2B5EF4-FFF2-40B4-BE49-F238E27FC236}">
                <a16:creationId xmlns:a16="http://schemas.microsoft.com/office/drawing/2014/main" id="{EA829DA6-BEBD-4429-BC78-1FE859F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raw-accent">
            <a:extLst xmlns:a="http://schemas.openxmlformats.org/drawingml/2006/main">
              <a:ext uri="{FF2B5EF4-FFF2-40B4-BE49-F238E27FC236}">
                <a16:creationId xmlns:a16="http://schemas.microsoft.com/office/drawing/2014/main" id="{19116D74-D185-4E14-841C-5C6EBA0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stat">
            <a:extLst xmlns:a="http://schemas.openxmlformats.org/drawingml/2006/main">
              <a:ext uri="{FF2B5EF4-FFF2-40B4-BE49-F238E27FC236}">
                <a16:creationId xmlns:a16="http://schemas.microsoft.com/office/drawing/2014/main" id="{48C10571-26BD-48E8-942D-B9FD74F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raw-label">
            <a:extLst xmlns:a="http://schemas.openxmlformats.org/drawingml/2006/main">
              <a:ext uri="{FF2B5EF4-FFF2-40B4-BE49-F238E27FC236}">
                <a16:creationId xmlns:a16="http://schemas.microsoft.com/office/drawing/2014/main" id="{E42BE372-865E-4025-A94A-D28F2A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default ICMP alerts</a:t>
            </a:r>
          </a:p>
        </p:txBody>
      </p:sp>
      <p:sp>
        <p:nvSpPr>
          <p:cNvPr id="11" name="raw-detail">
            <a:extLst xmlns:a="http://schemas.openxmlformats.org/drawingml/2006/main">
              <a:ext uri="{FF2B5EF4-FFF2-40B4-BE49-F238E27FC236}">
                <a16:creationId xmlns:a16="http://schemas.microsoft.com/office/drawing/2014/main" id="{CD1F2B0D-C4C7-47E4-BCEB-0B4A9BE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SID 2100366 matched each controlled echo request.</a:t>
            </a:r>
          </a:p>
        </p:txBody>
      </p:sp>
      <p:sp>
        <p:nvSpPr>
          <p:cNvPr id="12" name="alerts-card">
            <a:extLst xmlns:a="http://schemas.openxmlformats.org/drawingml/2006/main">
              <a:ext uri="{FF2B5EF4-FFF2-40B4-BE49-F238E27FC236}">
                <a16:creationId xmlns:a16="http://schemas.microsoft.com/office/drawing/2014/main" id="{10605384-E21A-4332-99DC-DD1116C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alerts-accent">
            <a:extLst xmlns:a="http://schemas.openxmlformats.org/drawingml/2006/main">
              <a:ext uri="{FF2B5EF4-FFF2-40B4-BE49-F238E27FC236}">
                <a16:creationId xmlns:a16="http://schemas.microsoft.com/office/drawing/2014/main" id="{D09D0123-49B8-49DF-81AA-8A87FC4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erts-stat">
            <a:extLst xmlns:a="http://schemas.openxmlformats.org/drawingml/2006/main">
              <a:ext uri="{FF2B5EF4-FFF2-40B4-BE49-F238E27FC236}">
                <a16:creationId xmlns:a16="http://schemas.microsoft.com/office/drawing/2014/main" id="{CDECF06F-15B1-41D8-A694-8FFE282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4C51684E-4039-4E52-B238-7293D2C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custom HTTP alert</a:t>
            </a:r>
          </a:p>
        </p:txBody>
      </p:sp>
      <p:sp>
        <p:nvSpPr>
          <p:cNvPr id="16" name="alerts-detail">
            <a:extLst xmlns:a="http://schemas.openxmlformats.org/drawingml/2006/main">
              <a:ext uri="{FF2B5EF4-FFF2-40B4-BE49-F238E27FC236}">
                <a16:creationId xmlns:a16="http://schemas.microsoft.com/office/drawing/2014/main" id="{62517443-E8AC-4EC5-84B4-8DFD03D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SID 1000001 captured GET /soc-lab-admin-test.</a:t>
            </a:r>
          </a:p>
        </p:txBody>
      </p:sp>
      <p:sp>
        <p:nvSpPr>
          <p:cNvPr id="17" name="rules-card">
            <a:extLst xmlns:a="http://schemas.openxmlformats.org/drawingml/2006/main">
              <a:ext uri="{FF2B5EF4-FFF2-40B4-BE49-F238E27FC236}">
                <a16:creationId xmlns:a16="http://schemas.microsoft.com/office/drawing/2014/main" id="{8B3BFDC9-ED68-4D03-98CC-E38867E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30712E81-A3EC-4BB4-895D-969E85E6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s-stat">
            <a:extLst xmlns:a="http://schemas.openxmlformats.org/drawingml/2006/main">
              <a:ext uri="{FF2B5EF4-FFF2-40B4-BE49-F238E27FC236}">
                <a16:creationId xmlns:a16="http://schemas.microsoft.com/office/drawing/2014/main" id="{205B75DA-AB4D-4F23-8C34-1A88445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0" name="rules-label">
            <a:extLst xmlns:a="http://schemas.openxmlformats.org/drawingml/2006/main">
              <a:ext uri="{FF2B5EF4-FFF2-40B4-BE49-F238E27FC236}">
                <a16:creationId xmlns:a16="http://schemas.microsoft.com/office/drawing/2014/main" id="{85521899-C033-4128-A9D1-72B4248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sp>
        <p:nvSpPr>
          <p:cNvPr id="21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6A4ECBD5-F2DA-4141-8270-534A6C6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Configuration, tests, alerts, and timestamps passed SHA-256.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7A7AF704-9920-48B8-8E96-82B34AC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3548F2A9-A849-42BB-B1F2-E0FF0F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31F4D4C5-0B1E-40EC-9D38-0985C42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Suricata detected traffic without disrupting service; Wazuh preserved the network and HTTP context needed for triage.</a:t>
            </a:r>
          </a:p>
        </p:txBody>
      </p:sp>
    </p:spTree>
    <p:extLst>
      <p:ext uri="{BB962C8B-B14F-4D97-AF65-F5344CB8AC3E}">
        <p14:creationId xmlns:p14="http://schemas.microsoft.com/office/powerpoint/2010/main" val="11086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CB2E42D-9DC9-4F62-9B3C-6FD4606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DETECTION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D472FD-DBB3-41B5-A00F-A91089C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Packet visibility became actionable SIEM telemetry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A915AFC-EE78-4E14-920E-8850E70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Each stage was validated before the next service or rule change was accepted.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0048F133-0128-440E-B67A-68DDA54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C248636-B6F5-4C84-A5ED-39669DB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FEA83E2-4E24-4D6E-A762-42156D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D82CF10-7A57-4CF4-BE61-1D8B3A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C0BADFFE-897D-4A32-8ECE-5742E4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910247FC-D990-4792-9CDE-809164A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D638F246-F090-45E8-90DC-DC33067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Configure &amp; validate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B97BD3A0-639D-41F0-A4C9-2C4225B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7.0.3 monitored enp0s3 with HOME_NET scoped to 10.10.10.4/32; syntax and service health were verified.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B0D8F2A1-0695-49CC-B730-2EA8B57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EDE803D5-3F87-452E-8F30-707F070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E1BE6DAB-6858-4D7F-80A6-BA335CF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Exercise coverage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E745A114-4667-4919-BFBE-27BB35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Parrot generated 20 ICMP requests and one lab-only HTTP path request while the protected web service remained available.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4EB195DC-5F10-43EB-9766-4715F95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F3588D2E-F1A0-4B84-8597-CFACD5D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A1DB87B8-9E3C-4C4F-8FB0-32A6C04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Correlate &amp; verify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D9CE5ADA-3040-4207-BD47-507AC7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indexed 21 alerts with source, destination, signature, protocol, and HTTP context; 15 artifacts passed SHA-256.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03F693B7-AAB8-4091-A3E0-F5B2B5D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FFBB8D8C-FD17-45C5-A7B6-DC0C60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sensor configuration and Wazuh collector syntax were validated before each restart.</a:t>
            </a:r>
          </a:p>
        </p:txBody>
      </p:sp>
    </p:spTree>
    <p:extLst>
      <p:ext uri="{BB962C8B-B14F-4D97-AF65-F5344CB8AC3E}">
        <p14:creationId xmlns:p14="http://schemas.microsoft.com/office/powerpoint/2010/main" val="2843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6FB0601A-3A58-4B27-B1F5-727376C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E48303E-F124-41B2-BA86-563BD54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SIEM preserved default and custom detection context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E973D22-5C13-4F6F-9D08-C96B92B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Screenshots confirm alert volume, signature IDs, source, destination, protocol, URI, status, and rule metadata.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0CA1FFB-EDE3-4F2F-A348-A10406B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4EBD8BF-1387-48CF-9D0B-EA4C520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389627C-FDF7-4EB9-B9E6-DE4F135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hits-frame">
            <a:extLst xmlns:a="http://schemas.openxmlformats.org/drawingml/2006/main">
              <a:ext uri="{FF2B5EF4-FFF2-40B4-BE49-F238E27FC236}">
                <a16:creationId xmlns:a16="http://schemas.microsoft.com/office/drawing/2014/main" id="{B387D65E-ABB9-4060-9844-E1530EC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483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16bc736bf4279"/>
          <a:stretch xmlns:a="http://schemas.openxmlformats.org/drawingml/2006/main"/>
        </p:blipFill>
        <p:spPr>
          <a:xfrm xmlns:a="http://schemas.openxmlformats.org/drawingml/2006/main" flipH="0" flipV="0">
            <a:off x="419100" y="2238864"/>
            <a:ext cx="5372100" cy="2894622"/>
          </a:xfrm>
          <a:prstGeom xmlns:a="http://schemas.openxmlformats.org/drawingml/2006/main" prst="roundRect">
            <a:avLst/>
          </a:prstGeom>
        </p:spPr>
      </p:pic>
      <p:sp>
        <p:nvSpPr>
          <p:cNvPr id="9" name="hits-caption">
            <a:extLst xmlns:a="http://schemas.openxmlformats.org/drawingml/2006/main">
              <a:ext uri="{FF2B5EF4-FFF2-40B4-BE49-F238E27FC236}">
                <a16:creationId xmlns:a16="http://schemas.microsoft.com/office/drawing/2014/main" id="{BAB9801B-9180-4A9D-8A3E-9E1280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20 Wazuh hits • Suricata SID 2100366 • rule 86601</a:t>
            </a:r>
          </a:p>
        </p:txBody>
      </p:sp>
      <p:sp>
        <p:nvSpPr>
          <p:cNvPr id="10" name="success-rule-frame">
            <a:extLst xmlns:a="http://schemas.openxmlformats.org/drawingml/2006/main">
              <a:ext uri="{FF2B5EF4-FFF2-40B4-BE49-F238E27FC236}">
                <a16:creationId xmlns:a16="http://schemas.microsoft.com/office/drawing/2014/main" id="{B6CCBE43-B11A-494F-A0A5-FAC2FF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56578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b0bf889534802"/>
          <a:stretch xmlns:a="http://schemas.openxmlformats.org/drawingml/2006/main"/>
        </p:blipFill>
        <p:spPr>
          <a:xfrm xmlns:a="http://schemas.openxmlformats.org/drawingml/2006/main" flipH="0" flipV="0">
            <a:off x="6191250" y="1954681"/>
            <a:ext cx="5581650" cy="1786587"/>
          </a:xfrm>
          <a:prstGeom xmlns:a="http://schemas.openxmlformats.org/drawingml/2006/main" prst="roundRect">
            <a:avLst/>
          </a:prstGeom>
        </p:spPr>
      </p:pic>
      <p:sp>
        <p:nvSpPr>
          <p:cNvPr id="12" name="success-caption">
            <a:extLst xmlns:a="http://schemas.openxmlformats.org/drawingml/2006/main">
              <a:ext uri="{FF2B5EF4-FFF2-40B4-BE49-F238E27FC236}">
                <a16:creationId xmlns:a16="http://schemas.microsoft.com/office/drawing/2014/main" id="{5636E3F7-F25F-4DEF-84EC-BDC0B40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Custom SID 1000001 • GET admin-path request</a:t>
            </a:r>
          </a:p>
        </p:txBody>
      </p:sp>
      <p:sp>
        <p:nvSpPr>
          <p:cNvPr id="13" name="command-rule-frame">
            <a:extLst xmlns:a="http://schemas.openxmlformats.org/drawingml/2006/main">
              <a:ext uri="{FF2B5EF4-FFF2-40B4-BE49-F238E27FC236}">
                <a16:creationId xmlns:a16="http://schemas.microsoft.com/office/drawing/2014/main" id="{B7588CB8-14A1-4FA1-BC3C-6ADE3E4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6578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e3ca2192a4e4e"/>
          <a:stretch xmlns:a="http://schemas.openxmlformats.org/drawingml/2006/main"/>
        </p:blipFill>
        <p:spPr>
          <a:xfrm xmlns:a="http://schemas.openxmlformats.org/drawingml/2006/main" flipH="0" flipV="0">
            <a:off x="6442844" y="4343400"/>
            <a:ext cx="5078462" cy="1428750"/>
          </a:xfrm>
          <a:prstGeom xmlns:a="http://schemas.openxmlformats.org/drawingml/2006/main" prst="roundRect">
            <a:avLst/>
          </a:prstGeom>
        </p:spPr>
      </p:pic>
      <p:sp>
        <p:nvSpPr>
          <p:cNvPr id="15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7D0E54F6-48CE-4FC7-8FC4-F2ACBCE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URI /soc-lab-admin-test • HTTP 404 • source 10.10.10.5</a:t>
            </a:r>
          </a:p>
        </p:txBody>
      </p:sp>
    </p:spTree>
    <p:extLst>
      <p:ext uri="{BB962C8B-B14F-4D97-AF65-F5344CB8AC3E}">
        <p14:creationId xmlns:p14="http://schemas.microsoft.com/office/powerpoint/2010/main" val="5886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6059D533-AF39-4FB8-BB16-915013E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RISK AND OPERATING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54553C-ED43-4D97-B6A8-C8E2549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IDS increased visibility without service disruption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EEEBBF8-784D-4994-B3F5-6E64EB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exercise validates monitoring behavior, not enterprise-scale throughput or attacker attribution.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6E9B202-281A-4D13-A1D3-17F834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B152FB4-D7B1-4AB6-A54E-CAD8B0F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A698F23-54D9-44F8-AC5E-7E8453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40C3DB81-AAC5-4C6E-8938-0260FD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383C680A-AB26-44DA-9F77-C871BD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DETECTION VALUE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2C29079B-8FAF-4DCB-8E67-D54E285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Network activity became searchable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30698E5F-5C26-4B26-BC6D-E1E0C3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Default and custom Suricata alerts reached Wazuh with packet, flow, signature, and HTTP fields.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C7B91995-040E-41DF-B226-F26D799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668D1B8E-2AF5-408D-BAAF-2B208B6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521CD996-4559-435E-B829-315F856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web service remained online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F9BCEE65-93D6-4577-88A0-A585575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ICMP returned 20/20 and Apache answered the controlled request while Suricata observed passively.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DE3C646C-0A85-4067-A7BC-BC426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04AAD93E-AA4D-40BD-A7E0-4B8BAE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EVIDENCE CONFIDENCE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C68C2ED5-E93E-4CFF-8EB4-7F12665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Counts and artifacts reconciled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22824B79-B106-4464-8210-8E67FA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20-to-20 and 1-to-1 alert paths matched; all 15 preserved files passed SHA-256.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A3161B1F-2006-4BEB-883F-F6A5543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0AA27802-F194-4E7C-BD4F-B87B6D4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9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Limit: this controlled lab did not measure encrypted-traffic visibility, false-positive rates, packet loss under load, or production retention.</a:t>
            </a:r>
          </a:p>
        </p:txBody>
      </p:sp>
    </p:spTree>
    <p:extLst>
      <p:ext uri="{BB962C8B-B14F-4D97-AF65-F5344CB8AC3E}">
        <p14:creationId xmlns:p14="http://schemas.microsoft.com/office/powerpoint/2010/main" val="1504036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3A3F0F0B-434A-4D27-850B-A9364B3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96F5DD6-FB54-4F5D-AB52-6DFC829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Operationalize the network detection capability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A1EFB08-27C0-4206-85D5-5F218E1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address sensor health, rule governance, alert quality, and cross-source triage.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E6074FD8-5BAC-42F0-828B-CB00442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CC2312F-C03A-413A-B2C8-6F479F2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IDS + WAZUH • STAKEHOLDER RECAP  •  Ryan Bryant  •  August 28,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1BB881A-E3D6-4030-85E8-7FA9197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280EFF1-9496-4FC9-B80E-00539D1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09C78E1E-CDDE-40BE-9A83-ACF4D65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AEAAFD96-4478-42AC-8767-5099F6F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Sensor health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39EA846B-2692-4B90-AAA9-663E75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Alert on interface loss, Suricata failure, stale EVE output, agent gaps, and missing Wazuh ingestion.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9EFB90A0-EE9A-403A-B287-B4F4FA9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353C0AB1-73BB-4079-B689-7D8C519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B8DC18CA-A4FD-4DBF-A325-62EDCE3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5F05EEBB-97DC-4CDA-AE37-FF3B80C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Rule governance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B80B771-1DA4-459D-9D44-20387AD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Version-control local rules and require syntax validation, peer review, and rollback paths before deployment.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D7AA68A8-3815-4D36-B6C5-6D41210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8C000330-52DB-4B63-9ACF-58F0563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087FC2FC-A5DC-4A38-955C-FCB8D93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5EC59FD6-59EA-4665-B7D5-078758C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Noise tuning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B44680AE-D150-4C3A-A486-C76CEB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Baseline alert volume, add thresholds and exceptions, and document tuning decisions without weakening coverage.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0075F3CC-AF20-4141-8A01-29B3921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829B5B47-CBE8-420F-B213-D392799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268BF5D2-287F-4851-B209-51ED830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9ECCA97-2D58-403B-B2E1-D253A66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Cross-source correlation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1B100479-D7F1-4B15-ADF0-43C472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Join network alerts with endpoint and authentication telemetry to increase confidence and speed triage.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3E3D6020-D1FD-46D4-9DB9-25C92D6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705CB56D-3C80-4330-BD1A-47BC7F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preserve the integration and advance to a tuned pilot with health monitoring and rule-change controls.</a:t>
            </a:r>
          </a:p>
        </p:txBody>
      </p:sp>
    </p:spTree>
    <p:extLst>
      <p:ext uri="{BB962C8B-B14F-4D97-AF65-F5344CB8AC3E}">
        <p14:creationId xmlns:p14="http://schemas.microsoft.com/office/powerpoint/2010/main" val="141679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2026-08-28T21:21:49.7060000Z</dcterms:created>
  <dcterms:modified xsi:type="dcterms:W3CDTF">2026-08-28T21:21:49.7060000Z</dcterms:modified>
</coreProperties>
</file>