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57229d445743e6" /><Relationship Type="http://schemas.openxmlformats.org/officeDocument/2006/relationships/extended-properties" Target="/docProps/app.xml" Id="R759adabae4a546b9" /><Relationship Type="http://schemas.openxmlformats.org/officeDocument/2006/relationships/officeDocument" Target="/ppt/presentation.xml" Id="R526ea8bb5e82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4750156c044530"/>
  </p:sldMasterIdLst>
  <p:notesMasterIdLst>
    <p:notesMasterId xmlns:r="http://schemas.openxmlformats.org/officeDocument/2006/relationships" r:id="R41b2c5ba142d46c4"/>
  </p:notesMasterIdLst>
  <p:sldIdLst>
    <p:sldId xmlns:r="http://schemas.openxmlformats.org/officeDocument/2006/relationships" id="256" r:id="R548e852602df420a"/>
    <p:sldId xmlns:r="http://schemas.openxmlformats.org/officeDocument/2006/relationships" id="257" r:id="R2e4ee95adb634251"/>
    <p:sldId xmlns:r="http://schemas.openxmlformats.org/officeDocument/2006/relationships" id="258" r:id="Rc773b603b1204eef"/>
    <p:sldId xmlns:r="http://schemas.openxmlformats.org/officeDocument/2006/relationships" id="259" r:id="R7c18ad91da514856"/>
    <p:sldId xmlns:r="http://schemas.openxmlformats.org/officeDocument/2006/relationships" id="260" r:id="R6de75c0014a244f7"/>
    <p:sldId xmlns:r="http://schemas.openxmlformats.org/officeDocument/2006/relationships" id="261" r:id="R01c4dc38bc8f467a"/>
    <p:sldId xmlns:r="http://schemas.openxmlformats.org/officeDocument/2006/relationships" id="262" r:id="Re1852b15831f4545"/>
    <p:sldId xmlns:r="http://schemas.openxmlformats.org/officeDocument/2006/relationships" id="263" r:id="Rad69ea81775b40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12b3f0c5954253" /><Relationship Type="http://schemas.openxmlformats.org/officeDocument/2006/relationships/slideMaster" Target="/ppt/slideMasters/slideMaster1.xml" Id="R864750156c044530" /><Relationship Type="http://schemas.openxmlformats.org/officeDocument/2006/relationships/notesMaster" Target="/ppt/notesMasters/notesMaster1.xml" Id="R41b2c5ba142d46c4" /><Relationship Type="http://schemas.openxmlformats.org/officeDocument/2006/relationships/presProps" Target="/ppt/presProps.xml" Id="Ra4936e0f643f4228" /><Relationship Type="http://schemas.openxmlformats.org/officeDocument/2006/relationships/tableStyles" Target="/ppt/tableStyles.xml" Id="R26bb14cde64f4dce" /><Relationship Type="http://schemas.openxmlformats.org/officeDocument/2006/relationships/slide" Target="/ppt/slides/slide1.xml" Id="R548e852602df420a" /><Relationship Type="http://schemas.openxmlformats.org/officeDocument/2006/relationships/slide" Target="/ppt/slides/slide2.xml" Id="R2e4ee95adb634251" /><Relationship Type="http://schemas.openxmlformats.org/officeDocument/2006/relationships/slide" Target="/ppt/slides/slide3.xml" Id="Rc773b603b1204eef" /><Relationship Type="http://schemas.openxmlformats.org/officeDocument/2006/relationships/slide" Target="/ppt/slides/slide4.xml" Id="R7c18ad91da514856" /><Relationship Type="http://schemas.openxmlformats.org/officeDocument/2006/relationships/slide" Target="/ppt/slides/slide5.xml" Id="R6de75c0014a244f7" /><Relationship Type="http://schemas.openxmlformats.org/officeDocument/2006/relationships/slide" Target="/ppt/slides/slide6.xml" Id="R01c4dc38bc8f467a" /><Relationship Type="http://schemas.openxmlformats.org/officeDocument/2006/relationships/slide" Target="/ppt/slides/slide7.xml" Id="Re1852b15831f4545" /><Relationship Type="http://schemas.openxmlformats.org/officeDocument/2006/relationships/slide" Target="/ppt/slides/slide8.xml" Id="Rad69ea81775b40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4cf3b9290542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9e3e66e8a64e79" /><Relationship Type="http://schemas.openxmlformats.org/officeDocument/2006/relationships/notesMaster" Target="/ppt/notesMasters/notesMaster1.xml" Id="R575d60d975df4b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3938c897643fd" /><Relationship Type="http://schemas.openxmlformats.org/officeDocument/2006/relationships/notesMaster" Target="/ppt/notesMasters/notesMaster1.xml" Id="R655fc4b35a0b4b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1d7e347b664006" /><Relationship Type="http://schemas.openxmlformats.org/officeDocument/2006/relationships/notesMaster" Target="/ppt/notesMasters/notesMaster1.xml" Id="R1cd7329a7ef0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4587f68a634aa5" /><Relationship Type="http://schemas.openxmlformats.org/officeDocument/2006/relationships/notesMaster" Target="/ppt/notesMasters/notesMaster1.xml" Id="R9cdf4958b1c8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ceab486f4b4dcd" /><Relationship Type="http://schemas.openxmlformats.org/officeDocument/2006/relationships/notesMaster" Target="/ppt/notesMasters/notesMaster1.xml" Id="Rb69116ca75fd48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d05591c09445b5" /><Relationship Type="http://schemas.openxmlformats.org/officeDocument/2006/relationships/notesMaster" Target="/ppt/notesMasters/notesMaster1.xml" Id="R4979f7abc8f0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095fb90b194286" /><Relationship Type="http://schemas.openxmlformats.org/officeDocument/2006/relationships/notesMaster" Target="/ppt/notesMasters/notesMaster1.xml" Id="R98343ab513f64d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b0f86041834594" /><Relationship Type="http://schemas.openxmlformats.org/officeDocument/2006/relationships/notesMaster" Target="/ppt/notesMasters/notesMaster1.xml" Id="Ra556d32003324b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that this is a controlled home-lab simulation, not a real breach. The business takeaway is that the evidence shows multiple suspicious behaviors but no successful compromise.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Author-generated lab evidence, 24 August 2026</a:t>
            </a:r>
          </a:p>
          <a:p xmlns:a="http://schemas.openxmlformats.org/drawingml/2006/main">
            <a:r>
              <a:t>- https://www.wireshark.org/docs/wsug_html_chunked/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evidence-based language: attempted activity does not equal successful exploitation. These metrics come from the saved PCAP, server logs, and integrity manifest.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PCAP: web-attack-incident-2026-08-24.pcapng</a:t>
            </a:r>
          </a:p>
          <a:p xmlns:a="http://schemas.openxmlformats.org/drawingml/2006/main">
            <a:r>
              <a:t>- Author Apache and OpenSSH log excerpts</a:t>
            </a:r>
          </a:p>
          <a:p xmlns:a="http://schemas.openxmlformats.org/drawingml/2006/main">
            <a:r>
              <a:t>- https://httpd.apache.org/docs/2.4/logs.html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exact timestamps and labels allow the packet capture and host logs to be joined into one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Apache log excerpt, 24 August 2026</a:t>
            </a:r>
          </a:p>
          <a:p xmlns:a="http://schemas.openxmlformats.org/drawingml/2006/main">
            <a:r>
              <a:t>- Author OpenSSH auth.log excerpt, 24 August 2026</a:t>
            </a:r>
          </a:p>
          <a:p xmlns:a="http://schemas.openxmlformats.org/drawingml/2006/main">
            <a:r>
              <a:t>- Author start/end timestamp 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SYN scan determines which ports respond. Nmap defines an open port as an application actively accepting TCP connections; filtered indicates that probes cannot determine whether a port is open, often because packet filtering blocks the probes.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Wireshark screenshot: 7d835dd0-883f-401f-ba85-e4ec61e23dd8.png</a:t>
            </a:r>
          </a:p>
          <a:p xmlns:a="http://schemas.openxmlformats.org/drawingml/2006/main">
            <a:r>
              <a:t>- https://nmap.org/book/synscan.html</a:t>
            </a:r>
          </a:p>
          <a:p xmlns:a="http://schemas.openxmlformats.org/drawingml/2006/main">
            <a:r>
              <a:t>- https://nmap.org/book/man-port-scanning-basics.html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URIs and unique User-Agent labels are visible in Wireshark and Apache. State the limitation clearly: traffic evidence proves the attempts reached the server, not that they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Wireshark screenshots: d007c5bb-6ab2-4278-bd0a-f44a63544394.png and b532cb93-377e-4c31-93e7-a3512b6ad78a.png</a:t>
            </a:r>
          </a:p>
          <a:p xmlns:a="http://schemas.openxmlformats.org/drawingml/2006/main">
            <a:r>
              <a:t>- Author Apache access.log excerpt</a:t>
            </a:r>
          </a:p>
          <a:p xmlns:a="http://schemas.openxmlformats.org/drawingml/2006/main">
            <a:r>
              <a:t>- https://httpd.apache.org/docs/2.4/logs.html</a:t>
            </a:r>
          </a:p>
          <a:p xmlns:a="http://schemas.openxmlformats.org/drawingml/2006/main">
            <a:r>
              <a:t>- https://attack.mitre.org/techniques/T1190/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source-port correlation matters: it joins network and endpoint views of the same connection. All three attempts ended before authentication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Wireshark screenshot: e2828eb6-8d9f-4fe5-8331-122d4c37db5a.png</a:t>
            </a:r>
          </a:p>
          <a:p xmlns:a="http://schemas.openxmlformats.org/drawingml/2006/main">
            <a:r>
              <a:t>- Author OpenSSH auth.log screenshot: 72fe4c1b-ef1f-4b93-bf4b-92b6cf3228dd.png</a:t>
            </a:r>
          </a:p>
          <a:p xmlns:a="http://schemas.openxmlformats.org/drawingml/2006/main">
            <a:r>
              <a:t>- https://attack.mitre.org/techniques/T1110/001/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Confidence comes from corroboration, not a single screenshot. The hash manifest makes later integrity checks possible; Wireshark display filters change the view, not the contents of the saved capture.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SHA-256 manifest screenshot: de5bbb02-1cd3-4420-8aa2-e0483f0a8ef9.png</a:t>
            </a:r>
          </a:p>
          <a:p xmlns:a="http://schemas.openxmlformats.org/drawingml/2006/main">
            <a:r>
              <a:t>- https://www.wireshark.org/docs/wsug_html_chunked/ChWorkDisplayFilterSection.html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action ownership rather than attack details. This exercise demonstrated that layered telemetry and basic controls can distinguish suspicious attempts from actual impact.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https://www.wireshark.org/docs/wsug_html_chunked/</a:t>
            </a:r>
          </a:p>
          <a:p xmlns:a="http://schemas.openxmlformats.org/drawingml/2006/main">
            <a:r>
              <a:t>- https://nmap.org/book/man-port-scanning-basics.html</a:t>
            </a:r>
          </a:p>
          <a:p xmlns:a="http://schemas.openxmlformats.org/drawingml/2006/main">
            <a:r>
              <a:t>- https://httpd.apache.org/docs/2.4/logs.html</a:t>
            </a:r>
          </a:p>
          <a:p xmlns:a="http://schemas.openxmlformats.org/drawingml/2006/main">
            <a:r>
              <a:t>- https://attack.mitre.org/techniques/T1046/</a:t>
            </a:r>
          </a:p>
          <a:p xmlns:a="http://schemas.openxmlformats.org/drawingml/2006/main">
            <a:r>
              <a:t>- https://attack.mitre.org/techniques/T1190/</a:t>
            </a:r>
          </a:p>
          <a:p xmlns:a="http://schemas.openxmlformats.org/drawingml/2006/main">
            <a:r>
              <a:t>- https://attack.mitre.org/techniques/T1110/001/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c027a187f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c7eb9598cf44f2" /><Relationship Type="http://schemas.openxmlformats.org/officeDocument/2006/relationships/slideLayout" Target="/ppt/slideLayouts/slideLayout1.xml" Id="Rb2bd366d5e93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d366d5e93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1468fd3174a00" /><Relationship Type="http://schemas.openxmlformats.org/officeDocument/2006/relationships/notesSlide" Target="/ppt/notesSlides/notesSlide1.xml" Id="R3466c5632e3e44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ccd972b19415f" /><Relationship Type="http://schemas.openxmlformats.org/officeDocument/2006/relationships/notesSlide" Target="/ppt/notesSlides/notesSlide2.xml" Id="R2d5ec2dd8824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c7dbc7d0742c4" /><Relationship Type="http://schemas.openxmlformats.org/officeDocument/2006/relationships/notesSlide" Target="/ppt/notesSlides/notesSlide3.xml" Id="R9928626720314b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6e66cfbab426a" /><Relationship Type="http://schemas.openxmlformats.org/officeDocument/2006/relationships/image" Target="/ppt/media/image.png" Id="Ra4c313020974459a" /><Relationship Type="http://schemas.openxmlformats.org/officeDocument/2006/relationships/notesSlide" Target="/ppt/notesSlides/notesSlide4.xml" Id="R47e82d69a63f47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f79addce144ee" /><Relationship Type="http://schemas.openxmlformats.org/officeDocument/2006/relationships/image" Target="/ppt/media/image2.png" Id="R3f326fcf225749e8" /><Relationship Type="http://schemas.openxmlformats.org/officeDocument/2006/relationships/image" Target="/ppt/media/image3.png" Id="Rd3b62f2fbd93403d" /><Relationship Type="http://schemas.openxmlformats.org/officeDocument/2006/relationships/notesSlide" Target="/ppt/notesSlides/notesSlide5.xml" Id="R3eb8cf73698c4a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5e0e940c7465a" /><Relationship Type="http://schemas.openxmlformats.org/officeDocument/2006/relationships/image" Target="/ppt/media/image4.png" Id="Rd836556ab2354b12" /><Relationship Type="http://schemas.openxmlformats.org/officeDocument/2006/relationships/image" Target="/ppt/media/image5.png" Id="R49d8d5e15f774c6f" /><Relationship Type="http://schemas.openxmlformats.org/officeDocument/2006/relationships/notesSlide" Target="/ppt/notesSlides/notesSlide6.xml" Id="R6f3a4e258ce944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60a19d1a424e" /><Relationship Type="http://schemas.openxmlformats.org/officeDocument/2006/relationships/notesSlide" Target="/ppt/notesSlides/notesSlide7.xml" Id="R45bfc91c2cdf47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21a371ec94721" /><Relationship Type="http://schemas.openxmlformats.org/officeDocument/2006/relationships/notesSlide" Target="/ppt/notesSlides/notesSlide8.xml" Id="R872def5016b74d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26FF8-A34C-47BB-9C86-66A1A641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D52D4-5E7D-4675-A05B-57631B01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INCIDENT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5244C-3145-4E99-BB22-3503FB45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E8354-4C2A-4626-BA3A-DB1C6BA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55BCC-863D-420B-9A5B-0DADF8C3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A79DE-E2D4-4D99-B764-8CBD257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CONTROLLED SECURITY EXERCISE · 24 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B23A4-60CC-4436-884F-A40C82BE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Web Attack Simulation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Incident Recap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1D891-151E-425A-8A2F-2AFC47BC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Packet capture, host-log correlation, impact assessment, and evidence preservation across an isolated Parrot-to-Ubuntu lab.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75A0A-4378-43C4-A128-186F2B16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33500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A0886-6F72-46CB-8793-533BD0D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38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EXERCISE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87DC8-AFEA-4224-A7AD-AC365621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2A10C-3681-4AA0-B6E7-6397EA7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No compromise confirmed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084BA-9571-4E92-B873-CD285968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4F46A-4D77-4E14-9708-9139F123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74C7D5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74C7D5"/>
                </a:solidFill>
                <a:latin typeface="Courier New"/>
                <a:ea typeface="Courier New"/>
                <a:cs typeface="Courier New"/>
              </a:rPr>
              <a:t>10.10.10.5  →  10.10.10.4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0B9CC-6A22-41BE-80A3-E511B33B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Parrot Security to Ubuntu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8E49C-AD86-4B28-AC23-48A81220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B204A-5883-4B01-AFEE-7811E0DD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AUTHORIZED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E0A8B-D053-42BD-8F9B-2DE9340A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54FB8-962D-4550-9974-B7E4EE8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ISOLATED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56417-C062-4ADA-8458-386826D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577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9C1F1-0804-4729-81D0-FA98B136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339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EVIDENCE-LED</a:t>
            </a:r>
          </a:p>
        </p:txBody>
      </p:sp>
    </p:spTree>
    <p:extLst>
      <p:ext uri="{BB962C8B-B14F-4D97-AF65-F5344CB8AC3E}">
        <p14:creationId xmlns:p14="http://schemas.microsoft.com/office/powerpoint/2010/main" val="1492896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4B447-DC9F-48FE-85EE-3949C82F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ECD8F-1C8A-4543-980D-F33B49B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EXECUTIVE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34BB5-6E5A-4254-8F21-A42C1EF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DD80F-4D6E-4528-9D89-607A1F4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AC124-7C10-4D7B-89CF-D04F2106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29D8D-EE04-4ABB-90DE-57E0330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DECISION-READY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CFE2C-9C1F-4360-AA43-3052BF1C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Suspicious activity was visible. Impact was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32A64-D8B0-4E2E-BBB3-EC6A436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BACF-E06A-4EBC-A61A-0B204690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55E3A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5E3A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0ACE6-34DE-4A7C-B155-87DDA87D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confirmed compromises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54D19-88F3-4A6A-B3F2-20FA171C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99F9A-1DBE-4A2C-8795-B3F5598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74C7D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4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36429-F534-4363-A335-3744106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activity phases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B6354-7782-450A-B1F2-100F064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22AAA-B31F-4849-AD17-8FFF7967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0B5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B55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12F79-1071-4954-BF20-F745655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hashed evidence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1164D-F5A2-472E-89AB-5B8558A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609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21E67-07FA-4350-913F-A3F2F9F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55E3A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5E3AE"/>
                </a:solidFill>
                <a:latin typeface="Aptos"/>
                <a:ea typeface="Aptos"/>
                <a:cs typeface="Aptos"/>
              </a:rPr>
              <a:t>784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12F34-550E-4652-A114-A7E7715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captured packets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CE46F-FE76-4B54-BDEF-6D8A25B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7251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C8E9A-B375-44B5-864E-A2C4DE8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WHAT LEADERS SHOULD KNOW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6F8A9-7B62-4CB4-8E16-E849123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CF5F1"/>
                </a:solidFill>
                <a:latin typeface="Aptos"/>
                <a:ea typeface="Aptos"/>
                <a:cs typeface="Aptos"/>
              </a:rPr>
              <a:t>The target stayed available. The traversal request was rejected (400), the SQLi-shaped request reached a missing endpoint (404), and all three SSH attempts were denied. No data disclosure, authenticated session, persistence, or outage was observed.</a:t>
            </a:r>
          </a:p>
        </p:txBody>
      </p:sp>
    </p:spTree>
    <p:extLst>
      <p:ext uri="{BB962C8B-B14F-4D97-AF65-F5344CB8AC3E}">
        <p14:creationId xmlns:p14="http://schemas.microsoft.com/office/powerpoint/2010/main" val="689440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CB3D1-D77C-46E7-8C42-1EF3E50A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9FCF8-8DE1-44B8-B825-3E3C0FDA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EVENT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8DDCE-2CBB-4385-9390-02EEF13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B09C9-89D6-47A8-B637-4728507C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38189-FA91-4923-BB19-BE64B0C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5C5AF-8FFA-46C7-A94E-C5A40F8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WHAT HAPPENED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3CE1E-990E-4153-A125-D08AEB4A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A short, controlled sequence created a clear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E3EC1-FAAE-44FC-BE54-05CA90D4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3535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34B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D4AF4-C4F5-453F-9771-DBBA49DA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3AE"/>
          </a:solidFill>
          <a:ln xmlns:a="http://schemas.openxmlformats.org/drawingml/2006/main" w="38100">
            <a:solidFill>
              <a:srgbClr val="0417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D8D16-15B6-4FE0-B5D2-3B8D2796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18:17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51CB8-9071-430A-96F3-31173C9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98E8B-85C5-4911-AFB8-B1F22E8B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095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HTTP GET / returned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59660-BEC9-4477-8604-4544454B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7D5"/>
          </a:solidFill>
          <a:ln xmlns:a="http://schemas.openxmlformats.org/drawingml/2006/main" w="38100">
            <a:solidFill>
              <a:srgbClr val="0417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71348-8807-414B-B603-5B05930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67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74C7D5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74C7D5"/>
                </a:solidFill>
                <a:latin typeface="Courier New"/>
                <a:ea typeface="Courier New"/>
                <a:cs typeface="Courier New"/>
              </a:rPr>
              <a:t>18:21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78A73-DFE2-44A0-8F86-58139434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Recon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9B867-957D-48C8-B55F-A70DAD4E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22/80 open · 8080 filtered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83B5F-858A-4370-AC34-8B57FAB4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55A"/>
          </a:solidFill>
          <a:ln xmlns:a="http://schemas.openxmlformats.org/drawingml/2006/main" w="38100">
            <a:solidFill>
              <a:srgbClr val="0417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EF4B1-7C42-4B34-848B-A712E6A2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0B55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0B55A"/>
                </a:solidFill>
                <a:latin typeface="Courier New"/>
                <a:ea typeface="Courier New"/>
                <a:cs typeface="Courier New"/>
              </a:rPr>
              <a:t>18:29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1D295-A515-4581-9AD4-84AE830D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Traversal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812E2-9A89-46C6-940C-F243BB0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Malformed request returned 400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A8DAF-4B71-49BD-9057-C91223B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55A"/>
          </a:solidFill>
          <a:ln xmlns:a="http://schemas.openxmlformats.org/drawingml/2006/main" w="38100">
            <a:solidFill>
              <a:srgbClr val="0417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36739-0753-4E8C-9E34-F6C58C3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0B55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0B55A"/>
                </a:solidFill>
                <a:latin typeface="Courier New"/>
                <a:ea typeface="Courier New"/>
                <a:cs typeface="Courier New"/>
              </a:rPr>
              <a:t>18:35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F12EA-C62A-4550-934E-1E6AC324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SQLi-shaped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472CF-BAC5-40DA-B805-560A904E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Missing endpoint returned 404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098D4-ADDF-44F7-8FAF-A91925D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171"/>
          </a:solidFill>
          <a:ln xmlns:a="http://schemas.openxmlformats.org/drawingml/2006/main" w="38100">
            <a:solidFill>
              <a:srgbClr val="04171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88366-9AD5-459A-B022-4B6590F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07171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E07171"/>
                </a:solidFill>
                <a:latin typeface="Courier New"/>
                <a:ea typeface="Courier New"/>
                <a:cs typeface="Courier New"/>
              </a:rPr>
              <a:t>18:44–46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26044-C4ED-4328-BEB0-2FC6FC9B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SSH attempts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A3DC6-DCB9-4C68-91FA-AF73DE0A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Three invalid-user denials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350FE3-D11F-4442-9889-C7EE2C97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72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Exercise window bounded by saved lab-start.txt and lab-end.txt timestamps.</a:t>
            </a:r>
          </a:p>
        </p:txBody>
      </p:sp>
    </p:spTree>
    <p:extLst>
      <p:ext uri="{BB962C8B-B14F-4D97-AF65-F5344CB8AC3E}">
        <p14:creationId xmlns:p14="http://schemas.microsoft.com/office/powerpoint/2010/main" val="1535306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B2473-D58D-4D6F-B0B2-8356126B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CAB12-20FF-49EB-91C1-6A803DF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NETWORK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402E7-687F-4CF1-B818-5556E1E2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3CEDE-D255-4FAC-8111-1CAF0D84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77150-4410-4639-84B6-9556955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37EFD-000C-4DB5-A38B-C22868D3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WIRESHARK + NMAP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30D3-DCEB-49F9-AF92-9C52C153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Reconnaissance exposed the attack surface—not a breach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71071-8BED-451C-98D9-71E96129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72465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010907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313020974459a"/>
          <a:stretch xmlns:a="http://schemas.openxmlformats.org/drawingml/2006/main"/>
        </p:blipFill>
        <p:spPr>
          <a:xfrm xmlns:a="http://schemas.openxmlformats.org/drawingml/2006/main">
            <a:off x="1955500" y="2362200"/>
            <a:ext cx="4032849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7D671-4370-496D-9EAD-9235AD65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37338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04D76-F2C6-4A7B-8B5F-27E780E0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20B7B-D0E0-4C60-B6B4-85CCEF9D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22/tcp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C141A-5E6C-48C6-9DA9-895C1A4E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4C7D5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4C7D5"/>
                </a:solidFill>
                <a:latin typeface="Courier New"/>
                <a:ea typeface="Courier New"/>
                <a:cs typeface="Courier New"/>
              </a:rPr>
              <a:t>OPEN · SSH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CD4AD-AC09-4536-9DA5-74A698A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80/tcp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C0188-A1EE-4AC2-BE0C-3369E207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4C7D5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4C7D5"/>
                </a:solidFill>
                <a:latin typeface="Courier New"/>
                <a:ea typeface="Courier New"/>
                <a:cs typeface="Courier New"/>
              </a:rPr>
              <a:t>OPEN · HTTP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938B8-3CBB-410E-A7F6-4728E8C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8080/tcp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53725-F0C0-4FBF-9918-67408CD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196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0B5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55A"/>
                </a:solidFill>
                <a:latin typeface="Courier New"/>
                <a:ea typeface="Courier New"/>
                <a:cs typeface="Courier New"/>
              </a:rPr>
              <a:t>FILTERED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90A73-B6E5-43EB-8900-E63C64C5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Interpretation: discovery activity; no payload execution or post-exploitation behavior.</a:t>
            </a:r>
          </a:p>
        </p:txBody>
      </p:sp>
    </p:spTree>
    <p:extLst>
      <p:ext uri="{BB962C8B-B14F-4D97-AF65-F5344CB8AC3E}">
        <p14:creationId xmlns:p14="http://schemas.microsoft.com/office/powerpoint/2010/main" val="835358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8BA84-5F90-42E0-BE70-B0D2C7D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980D1-4411-4DD2-8F62-1527E2A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WEB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CE6C4-4647-45DA-86E7-D3EA9384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8F044-DA09-4401-9C75-E9CFBC1D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17805-FDD1-4CCE-AE37-A1F0FB0D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E2664-95A0-41AA-B268-635F3E7B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APPLICATION-LAYER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D8DE7-30DC-4DA9-8F21-C601DB81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Two attack-shaped requests; two defensive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8723F-F279-4869-8BE0-8078353C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0065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010907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26fcf225749e8"/>
          <a:stretch xmlns:a="http://schemas.openxmlformats.org/drawingml/2006/main"/>
        </p:blipFill>
        <p:spPr>
          <a:xfrm xmlns:a="http://schemas.openxmlformats.org/drawingml/2006/main">
            <a:off x="1396245" y="2343150"/>
            <a:ext cx="362736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85181-B644-4305-B959-41F5518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520065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010907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62f2fbd93403d"/>
          <a:stretch xmlns:a="http://schemas.openxmlformats.org/drawingml/2006/main"/>
        </p:blipFill>
        <p:spPr>
          <a:xfrm xmlns:a="http://schemas.openxmlformats.org/drawingml/2006/main">
            <a:off x="7157755" y="2343150"/>
            <a:ext cx="3648639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49072-3406-45FC-B8F1-A32D1D9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19FF2-40B5-4D39-898E-5C763681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0B55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0B55A"/>
                </a:solidFill>
                <a:latin typeface="Courier New"/>
                <a:ea typeface="Courier New"/>
                <a:cs typeface="Courier New"/>
              </a:rPr>
              <a:t>PATH TRAVERSAL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61EE6-6A12-466A-AF15-1997E09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HTTP 400 · malformed request 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112E9-558A-40BE-90D2-6DDE6864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340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99B45-A916-4726-9A74-777336AA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10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0B55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F0B55A"/>
                </a:solidFill>
                <a:latin typeface="Courier New"/>
                <a:ea typeface="Courier New"/>
                <a:cs typeface="Courier New"/>
              </a:rPr>
              <a:t>SQLI-SHAPED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4D196-D425-44FF-9031-0020E9CC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81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HTTP 404 · endpoint absent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E97F8-EC8C-4305-AE59-3A0DF95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Neither response demonstrates file disclosure or database execution.</a:t>
            </a:r>
          </a:p>
        </p:txBody>
      </p:sp>
    </p:spTree>
    <p:extLst>
      <p:ext uri="{BB962C8B-B14F-4D97-AF65-F5344CB8AC3E}">
        <p14:creationId xmlns:p14="http://schemas.microsoft.com/office/powerpoint/2010/main" val="1838798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D7E3A-2E36-4E58-A538-81694C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49A0-BCDB-4F4C-9239-1ED69F11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IDENTITY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40704-04E0-4335-BA9F-D62C2598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A0898-28D7-4803-AB3E-14185AD7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49BD7-ADA3-453F-A304-FC305E65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61793-7FE9-4710-A9E4-3D4C65EE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AUTHENTICATION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DB23B-6D47-4D35-B89E-2FC3226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Three failed SSH attempts were denied and corroborated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00988-1D8B-4EA8-BB07-FCE28497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1054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10907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6556ab2354b12"/>
          <a:stretch xmlns:a="http://schemas.openxmlformats.org/drawingml/2006/main"/>
        </p:blipFill>
        <p:spPr>
          <a:xfrm xmlns:a="http://schemas.openxmlformats.org/drawingml/2006/main">
            <a:off x="1299689" y="2343150"/>
            <a:ext cx="3725223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D1171-F0FA-4DB5-9C06-B98573C0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56769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10907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8d5e15f774c6f"/>
          <a:stretch xmlns:a="http://schemas.openxmlformats.org/drawingml/2006/main"/>
        </p:blipFill>
        <p:spPr>
          <a:xfrm xmlns:a="http://schemas.openxmlformats.org/drawingml/2006/main">
            <a:off x="5981700" y="2628989"/>
            <a:ext cx="5524500" cy="1219021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02595-5EF8-4481-A3EE-2747097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552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EF0EA-E009-4CB3-935C-343DF9E2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PORT CORRELATION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07DF9-973E-46D5-8081-412B1BBC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Wireshark source port 53134 matches the first auth.log attempt.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16F0E-62B7-465E-944B-790E00A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E5422-AC04-4BEC-94B9-803B3FB1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Outcome: invalid user · failed password · connection closed · no authenticated session</a:t>
            </a:r>
          </a:p>
        </p:txBody>
      </p:sp>
    </p:spTree>
    <p:extLst>
      <p:ext uri="{BB962C8B-B14F-4D97-AF65-F5344CB8AC3E}">
        <p14:creationId xmlns:p14="http://schemas.microsoft.com/office/powerpoint/2010/main" val="2039464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3CB871-33D8-4511-8AE9-CDAC106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764FE-E1D7-4276-BC87-6F1A82E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CONFIDENCE +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79004-B5F7-4F1A-A473-3F8D1D1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1BB9E-1039-4A68-ADAB-E58CD717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96448-F9B1-4925-8675-F9CBAC94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02DB5-CC58-4BB5-AA53-8B6028B2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WHY THE CONCLUSION IS DEFENSIBLE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D602E-9679-4437-972B-7E10FF27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Independent evidence sources converge on the same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BE20D-BCB3-486A-BBC3-4BE6C7C2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743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09834-5725-4647-91F6-F3CB8122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PACKET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5DA26-5B79-4193-A40A-E31A406C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IPs · ports · TCP flags · full HTTP URIs · SSHv2 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5113A-BAFD-4552-A85F-E473C5AC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743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C9C38-C5C6-4B87-A58C-B1A945EF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19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SERVER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B4044-37AD-45B0-A88C-6624073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Apache status codes · request labels · invalid users · denial 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CDA41-0C19-46A2-802B-0A634EE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2743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A8616-F5E2-4DFF-A7A1-88DB794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INTEGRITY MANIFEST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812BE-AF79-45D9-92CA-5C57E7F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PCAP · two log excerpts · recon output · start/end timestamps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5F4B4-761F-4F3C-A965-A50BEED3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342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C7D5"/>
          </a:solidFill>
          <a:ln xmlns:a="http://schemas.openxmlformats.org/drawingml/2006/main" w="0">
            <a:solidFill>
              <a:srgbClr val="74C7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42F23-C918-4C44-B89B-5DE0397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342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C7D5"/>
          </a:solidFill>
          <a:ln xmlns:a="http://schemas.openxmlformats.org/drawingml/2006/main" w="0">
            <a:solidFill>
              <a:srgbClr val="74C7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AE460-C852-4A0C-948C-3126E6B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8839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90E30-818A-4E76-8EE5-9EACE74C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HIGH-CONFIDENCE CONCLUSION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3EA24-434E-4DEF-ACA0-16ADF34A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Attempts occurred; controls held; no compromise was demonstrated.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3B8C0-6C1A-4716-8B13-34DD800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695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B2821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1D408-573E-41DD-B59D-46661A9B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24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B5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55A"/>
                </a:solidFill>
                <a:latin typeface="Courier New"/>
                <a:ea typeface="Courier New"/>
                <a:cs typeface="Courier New"/>
              </a:rPr>
              <a:t>SHA-256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1CD47-046E-48F7-BAAB-CEAB2A5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4292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82775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4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7B5D3D-235F-4458-B8C9-1E45060F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F5A8-7209-4E42-8CA0-D93725F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NEXT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42E31-DD16-4235-AA75-177C7BC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63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D427F-F9E5-4CEE-876E-1B00F5F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3E091-9CE3-4F02-97D8-0D3A6EEA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9FB4AD"/>
                </a:solidFill>
                <a:latin typeface="Courier New"/>
                <a:ea typeface="Courier New"/>
                <a:cs typeface="Courier New"/>
              </a:rPr>
              <a:t>RYAN BRYANT  ·  STAKEHOLDER INCIDENT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1C4B5-01E2-4691-B387-4B324B5A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RECOMMENDATIONS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7E974-298D-46DF-9D9F-964B6838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Keep the controls that worked. Close the gaps before exposure.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E8FD4-AE93-431F-98CD-F6342301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85556-E19C-4086-A483-53F9531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Reduce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5682D-B1A8-42A8-880B-322880B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Keep unused ports filtered; publish only required services.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71D2A-72B0-4467-B96D-7C4AD86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7251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2A37C-F3F7-46D8-A199-B8727B9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800A0-664D-4039-9623-2225C55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Harden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E4A9E-01AA-468F-B22A-88BB10CA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Prefer SSH keys; limit password auth; add rate limiting.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F33C8-C2B7-4216-B555-D11BE03B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7251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017B9-BD0A-4788-81DD-4D16E31E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22F30-ADDD-452D-98E4-27327C89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Protect applications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82B3E-5D5D-4071-B18A-0B9149FA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Patch, validate inputs, and monitor traversal/SQLi patterns.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F127B-5F73-4580-A444-87B825C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7251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FA483-32C3-477C-86CC-9199D69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FCE1F-3AB9-438A-914E-F4A3D992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Improve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CAE31-D495-4B39-82C8-2DE47C18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339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Alert on scans, invalid users, and repeated failures.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0D15B-2501-493C-8B99-C8B00F3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7251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34CC9-2359-4760-BBAA-756DAF7B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892FD-6939-4142-97D7-7347D84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ECF5F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CF5F1"/>
                </a:solidFill>
                <a:latin typeface="Aptos"/>
                <a:ea typeface="Aptos"/>
                <a:cs typeface="Aptos"/>
              </a:rPr>
              <a:t>Preserve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1F1DD-B490-402C-A928-D086873D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483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B4A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4AD"/>
                </a:solidFill>
                <a:latin typeface="Aptos"/>
                <a:ea typeface="Aptos"/>
                <a:cs typeface="Aptos"/>
              </a:rPr>
              <a:t>Synchronize time; retain PCAPs and log excerpts with hashes.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859B2-207C-4DB9-9C81-F3BB1A5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906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332A"/>
          </a:solidFill>
          <a:ln xmlns:a="http://schemas.openxmlformats.org/drawingml/2006/main" w="9525">
            <a:solidFill>
              <a:srgbClr val="234B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382E2-7800-4503-9423-8921732F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066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defRPr>
            </a:pPr>
            <a:r>
              <a:rPr sz="825" b="1">
                <a:solidFill>
                  <a:srgbClr val="55E3AE"/>
                </a:solidFill>
                <a:latin typeface="Courier New"/>
                <a:ea typeface="Courier New"/>
                <a:cs typeface="Courier New"/>
              </a:rPr>
              <a:t>FINAL DISPOSITION: CLOSED</a:t>
            </a:r>
          </a:p>
        </p:txBody>
      </p:sp>
    </p:spTree>
    <p:extLst>
      <p:ext uri="{BB962C8B-B14F-4D97-AF65-F5344CB8AC3E}">
        <p14:creationId xmlns:p14="http://schemas.microsoft.com/office/powerpoint/2010/main" val="1940290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2026-08-24T19:41:31.4890000Z</dcterms:created>
  <dcterms:modified xsi:type="dcterms:W3CDTF">2026-08-24T19:41:31.4890000Z</dcterms:modified>
</coreProperties>
</file>