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151b8f176d4691" /><Relationship Type="http://schemas.openxmlformats.org/officeDocument/2006/relationships/extended-properties" Target="/docProps/app.xml" Id="R31db63d2ebed42ad" /><Relationship Type="http://schemas.openxmlformats.org/officeDocument/2006/relationships/officeDocument" Target="/ppt/presentation.xml" Id="R739e1eb34bd048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032a7c6d34ced"/>
  </p:sldMasterIdLst>
  <p:notesMasterIdLst>
    <p:notesMasterId xmlns:r="http://schemas.openxmlformats.org/officeDocument/2006/relationships" r:id="R527d553ff3ab4279"/>
  </p:notesMasterIdLst>
  <p:sldIdLst>
    <p:sldId xmlns:r="http://schemas.openxmlformats.org/officeDocument/2006/relationships" id="256" r:id="R37da5c4815824e0a"/>
    <p:sldId xmlns:r="http://schemas.openxmlformats.org/officeDocument/2006/relationships" id="257" r:id="R5f5a6562145e460d"/>
    <p:sldId xmlns:r="http://schemas.openxmlformats.org/officeDocument/2006/relationships" id="258" r:id="Ra7b17f4f19be4c62"/>
    <p:sldId xmlns:r="http://schemas.openxmlformats.org/officeDocument/2006/relationships" id="259" r:id="R28a1c07d24d4478c"/>
    <p:sldId xmlns:r="http://schemas.openxmlformats.org/officeDocument/2006/relationships" id="260" r:id="R71e72e43b14148fc"/>
    <p:sldId xmlns:r="http://schemas.openxmlformats.org/officeDocument/2006/relationships" id="261" r:id="R0f519c397bc641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7ed5cac92742ce" /><Relationship Type="http://schemas.openxmlformats.org/officeDocument/2006/relationships/slideMaster" Target="/ppt/slideMasters/slideMaster1.xml" Id="R768032a7c6d34ced" /><Relationship Type="http://schemas.openxmlformats.org/officeDocument/2006/relationships/notesMaster" Target="/ppt/notesMasters/notesMaster1.xml" Id="R527d553ff3ab4279" /><Relationship Type="http://schemas.openxmlformats.org/officeDocument/2006/relationships/presProps" Target="/ppt/presProps.xml" Id="R126790c9bd9b484f" /><Relationship Type="http://schemas.openxmlformats.org/officeDocument/2006/relationships/tableStyles" Target="/ppt/tableStyles.xml" Id="R16bdd85abd1a4b36" /><Relationship Type="http://schemas.openxmlformats.org/officeDocument/2006/relationships/slide" Target="/ppt/slides/slide1.xml" Id="R37da5c4815824e0a" /><Relationship Type="http://schemas.openxmlformats.org/officeDocument/2006/relationships/slide" Target="/ppt/slides/slide2.xml" Id="R5f5a6562145e460d" /><Relationship Type="http://schemas.openxmlformats.org/officeDocument/2006/relationships/slide" Target="/ppt/slides/slide3.xml" Id="Ra7b17f4f19be4c62" /><Relationship Type="http://schemas.openxmlformats.org/officeDocument/2006/relationships/slide" Target="/ppt/slides/slide4.xml" Id="R28a1c07d24d4478c" /><Relationship Type="http://schemas.openxmlformats.org/officeDocument/2006/relationships/slide" Target="/ppt/slides/slide5.xml" Id="R71e72e43b14148fc" /><Relationship Type="http://schemas.openxmlformats.org/officeDocument/2006/relationships/slide" Target="/ppt/slides/slide6.xml" Id="R0f519c397bc641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8a08e2de77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864c31eaeb46c8" /><Relationship Type="http://schemas.openxmlformats.org/officeDocument/2006/relationships/notesMaster" Target="/ppt/notesMasters/notesMaster1.xml" Id="R0e9de03bfe164b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a18cedda1496e" /><Relationship Type="http://schemas.openxmlformats.org/officeDocument/2006/relationships/notesMaster" Target="/ppt/notesMasters/notesMaster1.xml" Id="R22df0cbd8c5446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747855c7ae470e" /><Relationship Type="http://schemas.openxmlformats.org/officeDocument/2006/relationships/notesMaster" Target="/ppt/notesMasters/notesMaster1.xml" Id="R6070c173f950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c7d5770134d6d" /><Relationship Type="http://schemas.openxmlformats.org/officeDocument/2006/relationships/notesMaster" Target="/ppt/notesMasters/notesMaster1.xml" Id="R8548b2592a2644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25714ee824921" /><Relationship Type="http://schemas.openxmlformats.org/officeDocument/2006/relationships/notesMaster" Target="/ppt/notesMasters/notesMaster1.xml" Id="R23c13cc6130444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c94af1f6e04915" /><Relationship Type="http://schemas.openxmlformats.org/officeDocument/2006/relationships/notesMaster" Target="/ppt/notesMasters/notesMaster1.xml" Id="R1a033867b2c047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https://docs.cowrie.org/en/latest/INSTALL.html</a:t>
            </a:r>
          </a:p>
          <a:p xmlns:a="http://schemas.openxmlformats.org/drawingml/2006/main">
            <a:r>
              <a:t>- https://documentation.wazuh.com/current/user-manual/capabilities/log-data-collection/monitoring-log-files.html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https://docs.cowrie.org/en/latest/INSTALL.html</a:t>
            </a:r>
          </a:p>
          <a:p xmlns:a="http://schemas.openxmlformats.org/drawingml/2006/main">
            <a:r>
              <a:t>- https://documentation.wazuh.com/current/user-manual/reference/ossec-conf/localfile.html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https://documentation.wazuh.com/current/user-manual/reference/ossec-conf/localfile.html</a:t>
            </a:r>
          </a:p>
          <a:p xmlns:a="http://schemas.openxmlformats.org/drawingml/2006/main">
            <a:r>
              <a:t>- https://documentation.wazuh.com/current/user-manual/ruleset/decoders/json-decoder.html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https://attack.mitre.org/techniques/T1078/</a:t>
            </a:r>
          </a:p>
          <a:p xmlns:a="http://schemas.openxmlformats.org/drawingml/2006/main">
            <a:r>
              <a:t>- https://attack.mitre.org/techniques/T1059/004/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https://docs.cowrie.org/en/latest/INSTALL.html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lab evidence and screenshots captured August 26, 2026.</a:t>
            </a:r>
          </a:p>
          <a:p xmlns:a="http://schemas.openxmlformats.org/drawingml/2006/main">
            <a:r>
              <a:t>- https://docs.cowrie.org/en/latest/INSTALL.html</a:t>
            </a:r>
          </a:p>
          <a:p xmlns:a="http://schemas.openxmlformats.org/drawingml/2006/main">
            <a:r>
              <a:t>- https://documentation.wazuh.com/current/user-manual/capabilities/log-data-collection/monitoring-log-files.html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d02ff1258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ad1b7a09b460c" /><Relationship Type="http://schemas.openxmlformats.org/officeDocument/2006/relationships/slideLayout" Target="/ppt/slideLayouts/slideLayout1.xml" Id="R703d0d86fc6d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d0d86fc6d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9071781764677" /><Relationship Type="http://schemas.openxmlformats.org/officeDocument/2006/relationships/image" Target="/ppt/media/image.png" Id="Rd2eb7671bdff41d8" /><Relationship Type="http://schemas.openxmlformats.org/officeDocument/2006/relationships/notesSlide" Target="/ppt/notesSlides/notesSlide1.xml" Id="R105edda40acc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bed363fe04333" /><Relationship Type="http://schemas.openxmlformats.org/officeDocument/2006/relationships/notesSlide" Target="/ppt/notesSlides/notesSlide2.xml" Id="Rc7ae1b138b6249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dc1257f7a4c74" /><Relationship Type="http://schemas.openxmlformats.org/officeDocument/2006/relationships/notesSlide" Target="/ppt/notesSlides/notesSlide3.xml" Id="R2c06a5b96baf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9a0e1ac404637" /><Relationship Type="http://schemas.openxmlformats.org/officeDocument/2006/relationships/image" Target="/ppt/media/image2.png" Id="R8a79dcda3c814c3a" /><Relationship Type="http://schemas.openxmlformats.org/officeDocument/2006/relationships/image" Target="/ppt/media/image3.png" Id="Rb4e6f57afcf642b2" /><Relationship Type="http://schemas.openxmlformats.org/officeDocument/2006/relationships/image" Target="/ppt/media/image4.png" Id="R97c036c1c0ec480e" /><Relationship Type="http://schemas.openxmlformats.org/officeDocument/2006/relationships/notesSlide" Target="/ppt/notesSlides/notesSlide4.xml" Id="R23440b4bb41543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ab34a498f44b7" /><Relationship Type="http://schemas.openxmlformats.org/officeDocument/2006/relationships/notesSlide" Target="/ppt/notesSlides/notesSlide5.xml" Id="R570af82c0dd54c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870cc71604e01" /><Relationship Type="http://schemas.openxmlformats.org/officeDocument/2006/relationships/notesSlide" Target="/ppt/notesSlides/notesSlide6.xml" Id="Rb8b84675a794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CF44FE1-06A9-48AE-B374-F4D767D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DECEPTION &amp; SIEM VALIDATION</a:t>
            </a:r>
          </a:p>
        </p:txBody>
      </p:sp>
      <p:sp>
        <p:nvSpPr>
          <p:cNvPr id="2" name="pill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4AC9E68C-2D51-4C23-B680-9A63794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-text-COMPLETED • VALIDATED">
            <a:extLst xmlns:a="http://schemas.openxmlformats.org/drawingml/2006/main">
              <a:ext uri="{FF2B5EF4-FFF2-40B4-BE49-F238E27FC236}">
                <a16:creationId xmlns:a16="http://schemas.microsoft.com/office/drawing/2014/main" id="{3F9B40AB-A7A2-44C0-885B-70179E9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COMPLETED • VALIDATED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ED06142-A9B3-41BA-8553-8EA40E0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219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Cowrie honeypot monitoring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75732A6-69BB-4294-A1E6-013B37D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170"/>
                </a:solidFill>
                <a:latin typeface="Arial"/>
                <a:ea typeface="Arial"/>
                <a:cs typeface="Arial"/>
              </a:rPr>
              <a:t>A non-root SSH deception service produced structured telemetry that Wazuh decoded, classified, and preserved as evidence.</a:t>
            </a:r>
          </a:p>
        </p:txBody>
      </p:sp>
      <p:sp>
        <p:nvSpPr>
          <p:cNvPr id="6" name="disposition-card">
            <a:extLst xmlns:a="http://schemas.openxmlformats.org/drawingml/2006/main">
              <a:ext uri="{FF2B5EF4-FFF2-40B4-BE49-F238E27FC236}">
                <a16:creationId xmlns:a16="http://schemas.microsoft.com/office/drawing/2014/main" id="{411F8D79-3DFD-481B-B970-A54E45C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4953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sposition-label">
            <a:extLst xmlns:a="http://schemas.openxmlformats.org/drawingml/2006/main">
              <a:ext uri="{FF2B5EF4-FFF2-40B4-BE49-F238E27FC236}">
                <a16:creationId xmlns:a16="http://schemas.microsoft.com/office/drawing/2014/main" id="{10BC8244-A64D-4DF7-A100-8CC8573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8" name="disposition">
            <a:extLst xmlns:a="http://schemas.openxmlformats.org/drawingml/2006/main">
              <a:ext uri="{FF2B5EF4-FFF2-40B4-BE49-F238E27FC236}">
                <a16:creationId xmlns:a16="http://schemas.microsoft.com/office/drawing/2014/main" id="{ED4AF8B3-988C-4368-A29F-4CEE3B6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End-to-end deception telemetry and three custom detections validated.</a:t>
            </a:r>
          </a:p>
        </p:txBody>
      </p:sp>
      <p:sp>
        <p:nvSpPr>
          <p:cNvPr id="9" name="cover-evidence-frame">
            <a:extLst xmlns:a="http://schemas.openxmlformats.org/drawingml/2006/main">
              <a:ext uri="{FF2B5EF4-FFF2-40B4-BE49-F238E27FC236}">
                <a16:creationId xmlns:a16="http://schemas.microsoft.com/office/drawing/2014/main" id="{5987091B-4080-4195-9F14-AB070351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"/>
            <a:ext cx="55054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b7671bdff41d8"/>
          <a:srcRect xmlns:a="http://schemas.openxmlformats.org/drawingml/2006/main" l="22675" t="0" r="226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514350"/>
            <a:ext cx="5429250" cy="5353050"/>
          </a:xfrm>
          <a:prstGeom xmlns:a="http://schemas.openxmlformats.org/drawingml/2006/main" prst="roundRect">
            <a:avLst>
              <a:gd name="adj" fmla="val 1423"/>
            </a:avLst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BF861073-3DD2-4EF7-8B84-3C3A2303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8 Wazuh alerts • 17 raw events • 1 controlled SSH session</a:t>
            </a:r>
          </a:p>
        </p:txBody>
      </p:sp>
      <p:sp>
        <p:nvSpPr>
          <p:cNvPr id="12" name="footer-1">
            <a:extLst xmlns:a="http://schemas.openxmlformats.org/drawingml/2006/main">
              <a:ext uri="{FF2B5EF4-FFF2-40B4-BE49-F238E27FC236}">
                <a16:creationId xmlns:a16="http://schemas.microsoft.com/office/drawing/2014/main" id="{CFEADCC8-877D-4266-BB84-7299832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HONEYPOT • STAKEHOLDER RECAP  •  Ryan Bryant  •  August 26, 2026</a:t>
            </a:r>
          </a:p>
        </p:txBody>
      </p:sp>
      <p:sp>
        <p:nvSpPr>
          <p:cNvPr id="13" name="page-1">
            <a:extLst xmlns:a="http://schemas.openxmlformats.org/drawingml/2006/main">
              <a:ext uri="{FF2B5EF4-FFF2-40B4-BE49-F238E27FC236}">
                <a16:creationId xmlns:a16="http://schemas.microsoft.com/office/drawing/2014/main" id="{427916FD-15EC-4756-9F89-6B27C0B7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5741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2">
            <a:extLst xmlns:a="http://schemas.openxmlformats.org/drawingml/2006/main">
              <a:ext uri="{FF2B5EF4-FFF2-40B4-BE49-F238E27FC236}">
                <a16:creationId xmlns:a16="http://schemas.microsoft.com/office/drawing/2014/main" id="{7E4F5FCD-E04F-42E2-8B87-6D36F26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BA8A3B2-B6E1-4753-962C-D0A223F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One controlled session exercised the full monitoring chain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B6902894-FA1F-4FCB-9BBF-BDEE828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lab proved service reachability, structured collection, custom rule matching, alert severity, and evidence integrity.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246AB238-6646-4EED-A16E-8FE8FC3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4AADCED0-4EDF-4EA9-8B9B-7D439ACA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HONEYPOT • STAKEHOLDER RECAP  •  Ryan Bryant  •  August 26, 2026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D787D0D-4BFF-4825-93B7-835D4A1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aw-card">
            <a:extLst xmlns:a="http://schemas.openxmlformats.org/drawingml/2006/main">
              <a:ext uri="{FF2B5EF4-FFF2-40B4-BE49-F238E27FC236}">
                <a16:creationId xmlns:a16="http://schemas.microsoft.com/office/drawing/2014/main" id="{EA829DA6-BEBD-4429-BC78-1FE859F8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8" name="raw-accent">
            <a:extLst xmlns:a="http://schemas.openxmlformats.org/drawingml/2006/main">
              <a:ext uri="{FF2B5EF4-FFF2-40B4-BE49-F238E27FC236}">
                <a16:creationId xmlns:a16="http://schemas.microsoft.com/office/drawing/2014/main" id="{19116D74-D185-4E14-841C-5C6EBA0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w-stat">
            <a:extLst xmlns:a="http://schemas.openxmlformats.org/drawingml/2006/main">
              <a:ext uri="{FF2B5EF4-FFF2-40B4-BE49-F238E27FC236}">
                <a16:creationId xmlns:a16="http://schemas.microsoft.com/office/drawing/2014/main" id="{48C10571-26BD-48E8-942D-B9FD74F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" name="raw-label">
            <a:extLst xmlns:a="http://schemas.openxmlformats.org/drawingml/2006/main">
              <a:ext uri="{FF2B5EF4-FFF2-40B4-BE49-F238E27FC236}">
                <a16:creationId xmlns:a16="http://schemas.microsoft.com/office/drawing/2014/main" id="{E42BE372-865E-4025-A94A-D28F2A4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raw Cowrie events</a:t>
            </a:r>
          </a:p>
        </p:txBody>
      </p:sp>
      <p:sp>
        <p:nvSpPr>
          <p:cNvPr id="11" name="raw-detail">
            <a:extLst xmlns:a="http://schemas.openxmlformats.org/drawingml/2006/main">
              <a:ext uri="{FF2B5EF4-FFF2-40B4-BE49-F238E27FC236}">
                <a16:creationId xmlns:a16="http://schemas.microsoft.com/office/drawing/2014/main" id="{CD1F2B0D-C4C7-47E4-BCEB-0B4A9BE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Session telemetry preserved connection, authentication, and command context.</a:t>
            </a:r>
          </a:p>
        </p:txBody>
      </p:sp>
      <p:sp>
        <p:nvSpPr>
          <p:cNvPr id="12" name="alerts-card">
            <a:extLst xmlns:a="http://schemas.openxmlformats.org/drawingml/2006/main">
              <a:ext uri="{FF2B5EF4-FFF2-40B4-BE49-F238E27FC236}">
                <a16:creationId xmlns:a16="http://schemas.microsoft.com/office/drawing/2014/main" id="{10605384-E21A-4332-99DC-DD1116C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3" name="alerts-accent">
            <a:extLst xmlns:a="http://schemas.openxmlformats.org/drawingml/2006/main">
              <a:ext uri="{FF2B5EF4-FFF2-40B4-BE49-F238E27FC236}">
                <a16:creationId xmlns:a16="http://schemas.microsoft.com/office/drawing/2014/main" id="{D09D0123-49B8-49DF-81AA-8A87FC45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lerts-stat">
            <a:extLst xmlns:a="http://schemas.openxmlformats.org/drawingml/2006/main">
              <a:ext uri="{FF2B5EF4-FFF2-40B4-BE49-F238E27FC236}">
                <a16:creationId xmlns:a16="http://schemas.microsoft.com/office/drawing/2014/main" id="{CDECF06F-15B1-41D8-A694-8FFE2828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5" name="alerts-label">
            <a:extLst xmlns:a="http://schemas.openxmlformats.org/drawingml/2006/main">
              <a:ext uri="{FF2B5EF4-FFF2-40B4-BE49-F238E27FC236}">
                <a16:creationId xmlns:a16="http://schemas.microsoft.com/office/drawing/2014/main" id="{4C51684E-4039-4E52-B238-7293D2C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validated Wazuh alerts</a:t>
            </a:r>
          </a:p>
        </p:txBody>
      </p:sp>
      <p:sp>
        <p:nvSpPr>
          <p:cNvPr id="16" name="alerts-detail">
            <a:extLst xmlns:a="http://schemas.openxmlformats.org/drawingml/2006/main">
              <a:ext uri="{FF2B5EF4-FFF2-40B4-BE49-F238E27FC236}">
                <a16:creationId xmlns:a16="http://schemas.microsoft.com/office/drawing/2014/main" id="{62517443-E8AC-4EC5-84B4-8DFD03D9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1 failed login + 1 successful login + 6 command-input events.</a:t>
            </a:r>
          </a:p>
        </p:txBody>
      </p:sp>
      <p:sp>
        <p:nvSpPr>
          <p:cNvPr id="17" name="rules-card">
            <a:extLst xmlns:a="http://schemas.openxmlformats.org/drawingml/2006/main">
              <a:ext uri="{FF2B5EF4-FFF2-40B4-BE49-F238E27FC236}">
                <a16:creationId xmlns:a16="http://schemas.microsoft.com/office/drawing/2014/main" id="{8B3BFDC9-ED68-4D03-98CC-E38867E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sp>
        <p:nvSpPr>
          <p:cNvPr id="18" name="rules-accent">
            <a:extLst xmlns:a="http://schemas.openxmlformats.org/drawingml/2006/main">
              <a:ext uri="{FF2B5EF4-FFF2-40B4-BE49-F238E27FC236}">
                <a16:creationId xmlns:a16="http://schemas.microsoft.com/office/drawing/2014/main" id="{30712E81-A3EC-4BB4-895D-969E85E6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s-stat">
            <a:extLst xmlns:a="http://schemas.openxmlformats.org/drawingml/2006/main">
              <a:ext uri="{FF2B5EF4-FFF2-40B4-BE49-F238E27FC236}">
                <a16:creationId xmlns:a16="http://schemas.microsoft.com/office/drawing/2014/main" id="{205B75DA-AB4D-4F23-8C34-1A88445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rules-label">
            <a:extLst xmlns:a="http://schemas.openxmlformats.org/drawingml/2006/main">
              <a:ext uri="{FF2B5EF4-FFF2-40B4-BE49-F238E27FC236}">
                <a16:creationId xmlns:a16="http://schemas.microsoft.com/office/drawing/2014/main" id="{85521899-C033-4128-A9D1-72B4248C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433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custom detection rules</a:t>
            </a:r>
          </a:p>
        </p:txBody>
      </p:sp>
      <p:sp>
        <p:nvSpPr>
          <p:cNvPr id="21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6A4ECBD5-F2DA-4141-8270-534A6C6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43350"/>
            <a:ext cx="293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70"/>
                </a:solidFill>
                <a:latin typeface="Arial"/>
                <a:ea typeface="Arial"/>
                <a:cs typeface="Arial"/>
              </a:rPr>
              <a:t>Levels 7, 9, and 10 with MITRE ATT&amp;CK context.</a:t>
            </a:r>
          </a:p>
        </p:txBody>
      </p:sp>
      <p:sp>
        <p:nvSpPr>
          <p:cNvPr id="22" name="outcome-band">
            <a:extLst xmlns:a="http://schemas.openxmlformats.org/drawingml/2006/main">
              <a:ext uri="{FF2B5EF4-FFF2-40B4-BE49-F238E27FC236}">
                <a16:creationId xmlns:a16="http://schemas.microsoft.com/office/drawing/2014/main" id="{7A7AF704-9920-48B8-8E96-82B34AC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11353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3548F2A9-A849-42BB-B1F2-E0FF0F4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EXECUTIVE CONCLUSION</a:t>
            </a:r>
          </a:p>
        </p:txBody>
      </p:sp>
      <p:sp>
        <p:nvSpPr>
          <p:cNvPr id="24" name="outcome-text">
            <a:extLst xmlns:a="http://schemas.openxmlformats.org/drawingml/2006/main">
              <a:ext uri="{FF2B5EF4-FFF2-40B4-BE49-F238E27FC236}">
                <a16:creationId xmlns:a16="http://schemas.microsoft.com/office/drawing/2014/main" id="{31F4D4C5-0B1E-40EC-9D38-0985C42B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2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interaction remained inside Cowrie’s emulated environment; no evidence showed access to the real Ubuntu filesystem or a production system.</a:t>
            </a:r>
          </a:p>
        </p:txBody>
      </p:sp>
    </p:spTree>
    <p:extLst>
      <p:ext uri="{BB962C8B-B14F-4D97-AF65-F5344CB8AC3E}">
        <p14:creationId xmlns:p14="http://schemas.microsoft.com/office/powerpoint/2010/main" val="1108671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5CB2E42D-9DC9-4F62-9B3C-6FD4606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DETECTION CHAIN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1D472FD-DBB3-41B5-A00F-A91089C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Secure deployment became actionable SIEM telemetry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A915AFC-EE78-4E14-920E-8850E70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Each stage was validated before the next service or rule change was accepted.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0048F133-0128-440E-B67A-68DDA54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5C248636-B6F5-4C84-A5ED-39669DB9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HONEYPOT • STAKEHOLDER RECAP  •  Ryan Bryant  •  August 26, 2026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FFEA83E2-4E24-4D6E-A762-42156D0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6D82CF10-7A57-4CF4-BE61-1D8B3AB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1">
            <a:extLst xmlns:a="http://schemas.openxmlformats.org/drawingml/2006/main">
              <a:ext uri="{FF2B5EF4-FFF2-40B4-BE49-F238E27FC236}">
                <a16:creationId xmlns:a16="http://schemas.microsoft.com/office/drawing/2014/main" id="{C0BADFFE-897D-4A32-8ECE-5742E45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text-01">
            <a:extLst xmlns:a="http://schemas.openxmlformats.org/drawingml/2006/main">
              <a:ext uri="{FF2B5EF4-FFF2-40B4-BE49-F238E27FC236}">
                <a16:creationId xmlns:a16="http://schemas.microsoft.com/office/drawing/2014/main" id="{910247FC-D990-4792-9CDE-809164A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D638F246-F090-45E8-90DC-DC330674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Deploy &amp; restrict</a:t>
            </a:r>
          </a:p>
        </p:txBody>
      </p:sp>
      <p:sp>
        <p:nvSpPr>
          <p:cNvPr id="11" name="node-body-01">
            <a:extLst xmlns:a="http://schemas.openxmlformats.org/drawingml/2006/main">
              <a:ext uri="{FF2B5EF4-FFF2-40B4-BE49-F238E27FC236}">
                <a16:creationId xmlns:a16="http://schemas.microsoft.com/office/drawing/2014/main" id="{B97BD3A0-639D-41F0-A4C9-2C4225BF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ran under a locked non-root account on TCP 2222, allowed only from the private 10.10.10.0/24 lab subnet.</a:t>
            </a:r>
          </a:p>
        </p:txBody>
      </p:sp>
      <p:sp>
        <p:nvSpPr>
          <p:cNvPr id="12" name="node-02">
            <a:extLst xmlns:a="http://schemas.openxmlformats.org/drawingml/2006/main">
              <a:ext uri="{FF2B5EF4-FFF2-40B4-BE49-F238E27FC236}">
                <a16:creationId xmlns:a16="http://schemas.microsoft.com/office/drawing/2014/main" id="{B0D8F2A1-0695-49CC-B730-2EA8B579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text-02">
            <a:extLst xmlns:a="http://schemas.openxmlformats.org/drawingml/2006/main">
              <a:ext uri="{FF2B5EF4-FFF2-40B4-BE49-F238E27FC236}">
                <a16:creationId xmlns:a16="http://schemas.microsoft.com/office/drawing/2014/main" id="{EDE803D5-3F87-452E-8F30-707F070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E1BE6DAB-6858-4D7F-80A6-BA335CF7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Generate telemetry</a:t>
            </a:r>
          </a:p>
        </p:txBody>
      </p:sp>
      <p:sp>
        <p:nvSpPr>
          <p:cNvPr id="15" name="node-body-02">
            <a:extLst xmlns:a="http://schemas.openxmlformats.org/drawingml/2006/main">
              <a:ext uri="{FF2B5EF4-FFF2-40B4-BE49-F238E27FC236}">
                <a16:creationId xmlns:a16="http://schemas.microsoft.com/office/drawing/2014/main" id="{E745A114-4667-4919-BFBE-27BB354D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One failed login, one simulated success, and six shell commands created a linked session with 17 raw records.</a:t>
            </a:r>
          </a:p>
        </p:txBody>
      </p:sp>
      <p:sp>
        <p:nvSpPr>
          <p:cNvPr id="16" name="node-03">
            <a:extLst xmlns:a="http://schemas.openxmlformats.org/drawingml/2006/main">
              <a:ext uri="{FF2B5EF4-FFF2-40B4-BE49-F238E27FC236}">
                <a16:creationId xmlns:a16="http://schemas.microsoft.com/office/drawing/2014/main" id="{4EB195DC-5F10-43EB-9766-4715F95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text-03">
            <a:extLst xmlns:a="http://schemas.openxmlformats.org/drawingml/2006/main">
              <a:ext uri="{FF2B5EF4-FFF2-40B4-BE49-F238E27FC236}">
                <a16:creationId xmlns:a16="http://schemas.microsoft.com/office/drawing/2014/main" id="{F3588D2E-F1A0-4B84-8597-CFACD5D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A1DB87B8-9E3C-4C4F-8FB0-32A6C04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Correlate &amp; verify</a:t>
            </a:r>
          </a:p>
        </p:txBody>
      </p:sp>
      <p:sp>
        <p:nvSpPr>
          <p:cNvPr id="19" name="node-body-03">
            <a:extLst xmlns:a="http://schemas.openxmlformats.org/drawingml/2006/main">
              <a:ext uri="{FF2B5EF4-FFF2-40B4-BE49-F238E27FC236}">
                <a16:creationId xmlns:a16="http://schemas.microsoft.com/office/drawing/2014/main" id="{D9CE5ADA-3040-4207-BD47-507AC79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00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26170"/>
                </a:solidFill>
                <a:latin typeface="Arial"/>
                <a:ea typeface="Arial"/>
                <a:cs typeface="Arial"/>
              </a:rPr>
              <a:t>Wazuh JSON decoding and rules 100200–100202 produced 8 alerts; all 8 evidence files passed SHA-256.</a:t>
            </a:r>
          </a:p>
        </p:txBody>
      </p:sp>
      <p:sp>
        <p:nvSpPr>
          <p:cNvPr id="20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03F693B7-AAB8-4091-A3E0-F5B2B5D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11353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note-text">
            <a:extLst xmlns:a="http://schemas.openxmlformats.org/drawingml/2006/main">
              <a:ext uri="{FF2B5EF4-FFF2-40B4-BE49-F238E27FC236}">
                <a16:creationId xmlns:a16="http://schemas.microsoft.com/office/drawing/2014/main" id="{FFBB8D8C-FD17-45C5-A7B6-DC0C60B3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Control point: Wazuh collector and rule syntax were tested before services were restarted.</a:t>
            </a:r>
          </a:p>
        </p:txBody>
      </p:sp>
    </p:spTree>
    <p:extLst>
      <p:ext uri="{BB962C8B-B14F-4D97-AF65-F5344CB8AC3E}">
        <p14:creationId xmlns:p14="http://schemas.microsoft.com/office/powerpoint/2010/main" val="284331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4">
            <a:extLst xmlns:a="http://schemas.openxmlformats.org/drawingml/2006/main">
              <a:ext uri="{FF2B5EF4-FFF2-40B4-BE49-F238E27FC236}">
                <a16:creationId xmlns:a16="http://schemas.microsoft.com/office/drawing/2014/main" id="{6FB0601A-3A58-4B27-B1F5-727376C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E48303E-F124-41B2-BA86-563BD54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SIEM preserved the authentication-to-command sequence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7E973D22-5C13-4F6F-9D08-C96B92B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Screenshots confirm alert volume, severity, event type, source, destination, and ATT&amp;CK mapping.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0CA1FFB-EDE3-4F2F-A348-A10406B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4EBD8BF-1387-48CF-9D0B-EA4C520A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HONEYPOT • STAKEHOLDER RECAP  •  Ryan Bryant  •  August 26, 2026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5389627C-FDF7-4EB9-B9E6-DE4F135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hits-frame">
            <a:extLst xmlns:a="http://schemas.openxmlformats.org/drawingml/2006/main">
              <a:ext uri="{FF2B5EF4-FFF2-40B4-BE49-F238E27FC236}">
                <a16:creationId xmlns:a16="http://schemas.microsoft.com/office/drawing/2014/main" id="{B387D65E-ABB9-4060-9844-E1530EC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54483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9dcda3c814c3a"/>
          <a:stretch xmlns:a="http://schemas.openxmlformats.org/drawingml/2006/main"/>
        </p:blipFill>
        <p:spPr>
          <a:xfrm xmlns:a="http://schemas.openxmlformats.org/drawingml/2006/main">
            <a:off x="419100" y="2238864"/>
            <a:ext cx="5372100" cy="2894622"/>
          </a:xfrm>
          <a:prstGeom xmlns:a="http://schemas.openxmlformats.org/drawingml/2006/main" prst="roundRect">
            <a:avLst>
              <a:gd name="adj" fmla="val 2186"/>
            </a:avLst>
          </a:prstGeom>
        </p:spPr>
      </p:pic>
      <p:sp>
        <p:nvSpPr>
          <p:cNvPr id="9" name="hits-caption">
            <a:extLst xmlns:a="http://schemas.openxmlformats.org/drawingml/2006/main">
              <a:ext uri="{FF2B5EF4-FFF2-40B4-BE49-F238E27FC236}">
                <a16:creationId xmlns:a16="http://schemas.microsoft.com/office/drawing/2014/main" id="{BAB9801B-9180-4A9D-8A3E-9E1280A7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8 hits for the controlled Cowrie session</a:t>
            </a:r>
          </a:p>
        </p:txBody>
      </p:sp>
      <p:sp>
        <p:nvSpPr>
          <p:cNvPr id="10" name="success-rule-frame">
            <a:extLst xmlns:a="http://schemas.openxmlformats.org/drawingml/2006/main">
              <a:ext uri="{FF2B5EF4-FFF2-40B4-BE49-F238E27FC236}">
                <a16:creationId xmlns:a16="http://schemas.microsoft.com/office/drawing/2014/main" id="{B6CCBE43-B11A-494F-A0A5-FAC2FFC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56578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6f57afcf642b2"/>
          <a:stretch xmlns:a="http://schemas.openxmlformats.org/drawingml/2006/main"/>
        </p:blipFill>
        <p:spPr>
          <a:xfrm xmlns:a="http://schemas.openxmlformats.org/drawingml/2006/main">
            <a:off x="6191250" y="1954681"/>
            <a:ext cx="5581650" cy="1786587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12" name="success-caption">
            <a:extLst xmlns:a="http://schemas.openxmlformats.org/drawingml/2006/main">
              <a:ext uri="{FF2B5EF4-FFF2-40B4-BE49-F238E27FC236}">
                <a16:creationId xmlns:a16="http://schemas.microsoft.com/office/drawing/2014/main" id="{5636E3F7-F25F-4DEF-84EC-BDC0B40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Rule 100201 • level 9 • T1078 Valid Accounts</a:t>
            </a:r>
          </a:p>
        </p:txBody>
      </p:sp>
      <p:sp>
        <p:nvSpPr>
          <p:cNvPr id="13" name="command-rule-frame">
            <a:extLst xmlns:a="http://schemas.openxmlformats.org/drawingml/2006/main">
              <a:ext uri="{FF2B5EF4-FFF2-40B4-BE49-F238E27FC236}">
                <a16:creationId xmlns:a16="http://schemas.microsoft.com/office/drawing/2014/main" id="{B7588CB8-14A1-4FA1-BC3C-6ADE3E40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56578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8DEE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036c1c0ec480e"/>
          <a:stretch xmlns:a="http://schemas.openxmlformats.org/drawingml/2006/main"/>
        </p:blipFill>
        <p:spPr>
          <a:xfrm xmlns:a="http://schemas.openxmlformats.org/drawingml/2006/main">
            <a:off x="6442844" y="4343400"/>
            <a:ext cx="5078462" cy="1428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5" name="command-caption">
            <a:extLst xmlns:a="http://schemas.openxmlformats.org/drawingml/2006/main">
              <a:ext uri="{FF2B5EF4-FFF2-40B4-BE49-F238E27FC236}">
                <a16:creationId xmlns:a16="http://schemas.microsoft.com/office/drawing/2014/main" id="{7D0E54F6-48CE-4FC7-8FC4-F2ACBCE8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Rule 100202 • level 10 • T1059.004 Unix Shell</a:t>
            </a:r>
          </a:p>
        </p:txBody>
      </p:sp>
    </p:spTree>
    <p:extLst>
      <p:ext uri="{BB962C8B-B14F-4D97-AF65-F5344CB8AC3E}">
        <p14:creationId xmlns:p14="http://schemas.microsoft.com/office/powerpoint/2010/main" val="58867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6059D533-AF39-4FB8-BB16-915013E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RISK AND OPERATING IMPACT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254553C-ED43-4D97-B6A8-C8E2549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62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honeypot increased visibility while preserving the real host boundary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8EEEBBF8-784D-4994-B3F5-6E64EB7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exercise validates monitoring behavior, not internet-scale resilience or attacker attribution.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76E9B202-281A-4D13-A1D3-17F834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B152FB4-D7B1-4AB6-A54E-CAD8B0F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HONEYPOT • STAKEHOLDER RECAP  •  Ryan Bryant  •  August 26, 2026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A698F23-54D9-44F8-AC5E-7E84536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impact-0">
            <a:extLst xmlns:a="http://schemas.openxmlformats.org/drawingml/2006/main">
              <a:ext uri="{FF2B5EF4-FFF2-40B4-BE49-F238E27FC236}">
                <a16:creationId xmlns:a16="http://schemas.microsoft.com/office/drawing/2014/main" id="{40C3DB81-AAC5-4C6E-8938-0260FD1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mpact-label-0">
            <a:extLst xmlns:a="http://schemas.openxmlformats.org/drawingml/2006/main">
              <a:ext uri="{FF2B5EF4-FFF2-40B4-BE49-F238E27FC236}">
                <a16:creationId xmlns:a16="http://schemas.microsoft.com/office/drawing/2014/main" id="{383C680A-AB26-44DA-9F77-C871BD5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DECEPTION VALUE</a:t>
            </a:r>
          </a:p>
        </p:txBody>
      </p:sp>
      <p:sp>
        <p:nvSpPr>
          <p:cNvPr id="9" name="impact-head-0">
            <a:extLst xmlns:a="http://schemas.openxmlformats.org/drawingml/2006/main">
              <a:ext uri="{FF2B5EF4-FFF2-40B4-BE49-F238E27FC236}">
                <a16:creationId xmlns:a16="http://schemas.microsoft.com/office/drawing/2014/main" id="{2C29079B-8FAF-4DCB-8E67-D54E285B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The fake shell held the interaction</a:t>
            </a:r>
          </a:p>
        </p:txBody>
      </p:sp>
      <p:sp>
        <p:nvSpPr>
          <p:cNvPr id="10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30698E5F-5C26-4B26-BC6D-E1E0C372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Commands returned emulated output; no evidence showed access to the real Ubuntu filesystem.</a:t>
            </a:r>
          </a:p>
        </p:txBody>
      </p:sp>
      <p:sp>
        <p:nvSpPr>
          <p:cNvPr id="11" name="impact-1">
            <a:extLst xmlns:a="http://schemas.openxmlformats.org/drawingml/2006/main">
              <a:ext uri="{FF2B5EF4-FFF2-40B4-BE49-F238E27FC236}">
                <a16:creationId xmlns:a16="http://schemas.microsoft.com/office/drawing/2014/main" id="{C7B91995-040E-41DF-B226-F26D799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mpact-label-1">
            <a:extLst xmlns:a="http://schemas.openxmlformats.org/drawingml/2006/main">
              <a:ext uri="{FF2B5EF4-FFF2-40B4-BE49-F238E27FC236}">
                <a16:creationId xmlns:a16="http://schemas.microsoft.com/office/drawing/2014/main" id="{668D1B8E-2AF5-408D-BAAF-2B208B6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13" name="impact-head-1">
            <a:extLst xmlns:a="http://schemas.openxmlformats.org/drawingml/2006/main">
              <a:ext uri="{FF2B5EF4-FFF2-40B4-BE49-F238E27FC236}">
                <a16:creationId xmlns:a16="http://schemas.microsoft.com/office/drawing/2014/main" id="{521CD996-4559-435E-B829-315F856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Real SSH remained unchanged</a:t>
            </a:r>
          </a:p>
        </p:txBody>
      </p:sp>
      <p:sp>
        <p:nvSpPr>
          <p:cNvPr id="14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F9BCEE65-93D6-4577-88A0-A5855756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Cowrie stayed on TCP 2222 under a non-root account and was limited to the private lab subnet.</a:t>
            </a:r>
          </a:p>
        </p:txBody>
      </p:sp>
      <p:sp>
        <p:nvSpPr>
          <p:cNvPr id="15" name="impact-2">
            <a:extLst xmlns:a="http://schemas.openxmlformats.org/drawingml/2006/main">
              <a:ext uri="{FF2B5EF4-FFF2-40B4-BE49-F238E27FC236}">
                <a16:creationId xmlns:a16="http://schemas.microsoft.com/office/drawing/2014/main" id="{DE3C646C-0A85-4067-A7BC-BC42671A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42900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mpact-label-2">
            <a:extLst xmlns:a="http://schemas.openxmlformats.org/drawingml/2006/main">
              <a:ext uri="{FF2B5EF4-FFF2-40B4-BE49-F238E27FC236}">
                <a16:creationId xmlns:a16="http://schemas.microsoft.com/office/drawing/2014/main" id="{04AAD93E-AA4D-40BD-A7E0-4B8BAE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A6B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A6B00"/>
                </a:solidFill>
                <a:latin typeface="Arial"/>
                <a:ea typeface="Arial"/>
                <a:cs typeface="Arial"/>
              </a:rPr>
              <a:t>DATA HANDLING</a:t>
            </a:r>
          </a:p>
        </p:txBody>
      </p:sp>
      <p:sp>
        <p:nvSpPr>
          <p:cNvPr id="17" name="impact-head-2">
            <a:extLst xmlns:a="http://schemas.openxmlformats.org/drawingml/2006/main">
              <a:ext uri="{FF2B5EF4-FFF2-40B4-BE49-F238E27FC236}">
                <a16:creationId xmlns:a16="http://schemas.microsoft.com/office/drawing/2014/main" id="{C68C2ED5-E93E-4CFF-8EB4-7F12665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Telemetry can contain secrets</a:t>
            </a:r>
          </a:p>
        </p:txBody>
      </p:sp>
      <p:sp>
        <p:nvSpPr>
          <p:cNvPr id="18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22824B79-B106-4464-8210-8E67FAE4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Production honeypot credentials and command logs should be treated as sensitive security data.</a:t>
            </a:r>
          </a:p>
        </p:txBody>
      </p:sp>
      <p:sp>
        <p:nvSpPr>
          <p:cNvPr id="19" name="risk-band">
            <a:extLst xmlns:a="http://schemas.openxmlformats.org/drawingml/2006/main">
              <a:ext uri="{FF2B5EF4-FFF2-40B4-BE49-F238E27FC236}">
                <a16:creationId xmlns:a16="http://schemas.microsoft.com/office/drawing/2014/main" id="{A3161B1F-2006-4BEB-883F-F6A5543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38750"/>
            <a:ext cx="11125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band-text">
            <a:extLst xmlns:a="http://schemas.openxmlformats.org/drawingml/2006/main">
              <a:ext uri="{FF2B5EF4-FFF2-40B4-BE49-F238E27FC236}">
                <a16:creationId xmlns:a16="http://schemas.microsoft.com/office/drawing/2014/main" id="{0AA27802-F194-4E7C-BD4F-B87B6D4C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Limit: one scripted lab session does not establish production false-positive rates, high-volume performance, or exposure to real adversary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504036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6">
            <a:extLst xmlns:a="http://schemas.openxmlformats.org/drawingml/2006/main">
              <a:ext uri="{FF2B5EF4-FFF2-40B4-BE49-F238E27FC236}">
                <a16:creationId xmlns:a16="http://schemas.microsoft.com/office/drawing/2014/main" id="{3A3F0F0B-434A-4D27-850B-A9364B3F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77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77B8"/>
                </a:solidFill>
                <a:latin typeface="Arial"/>
                <a:ea typeface="Arial"/>
                <a:cs typeface="Arial"/>
              </a:rPr>
              <a:t>RECOMMENDED NEXT STEPS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96F5DD6-FB54-4F5D-AB52-6DFC829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Operationalize the deception capability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FA1EFB08-27C0-4206-85D5-5F218E1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Priorities address segmentation, sensitive telemetry, correlation quality, and service health.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E6074FD8-5BAC-42F0-828B-CB004421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CCC2312F-C03A-413A-B2C8-6F479F25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COWRIE HONEYPOT • STAKEHOLDER RECAP  •  Ryan Bryant  •  August 26, 2026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61BB881A-E3D6-4030-85E8-7FA9197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-num-0">
            <a:extLst xmlns:a="http://schemas.openxmlformats.org/drawingml/2006/main">
              <a:ext uri="{FF2B5EF4-FFF2-40B4-BE49-F238E27FC236}">
                <a16:creationId xmlns:a16="http://schemas.microsoft.com/office/drawing/2014/main" id="{5280EFF1-9496-4FC9-B80E-00539D17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-num-text-0">
            <a:extLst xmlns:a="http://schemas.openxmlformats.org/drawingml/2006/main">
              <a:ext uri="{FF2B5EF4-FFF2-40B4-BE49-F238E27FC236}">
                <a16:creationId xmlns:a16="http://schemas.microsoft.com/office/drawing/2014/main" id="{09C78E1E-CDDE-40BE-9A83-ACF4D65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-title-0">
            <a:extLst xmlns:a="http://schemas.openxmlformats.org/drawingml/2006/main">
              <a:ext uri="{FF2B5EF4-FFF2-40B4-BE49-F238E27FC236}">
                <a16:creationId xmlns:a16="http://schemas.microsoft.com/office/drawing/2014/main" id="{AEAAFD96-4478-42AC-8767-5099F6FE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62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Dedicated segment</a:t>
            </a:r>
          </a:p>
        </p:txBody>
      </p:sp>
      <p:sp>
        <p:nvSpPr>
          <p:cNvPr id="10" name="rec-body-0">
            <a:extLst xmlns:a="http://schemas.openxmlformats.org/drawingml/2006/main">
              <a:ext uri="{FF2B5EF4-FFF2-40B4-BE49-F238E27FC236}">
                <a16:creationId xmlns:a16="http://schemas.microsoft.com/office/drawing/2014/main" id="{39EA846B-2692-4B90-AAA9-663E75C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962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Place production honeypots in a monitored segment with strict outbound controls and clear ownership.</a:t>
            </a:r>
          </a:p>
        </p:txBody>
      </p:sp>
      <p:sp>
        <p:nvSpPr>
          <p:cNvPr id="11" name="rec-line-0">
            <a:extLst xmlns:a="http://schemas.openxmlformats.org/drawingml/2006/main">
              <a:ext uri="{FF2B5EF4-FFF2-40B4-BE49-F238E27FC236}">
                <a16:creationId xmlns:a16="http://schemas.microsoft.com/office/drawing/2014/main" id="{9EFB90A0-EE9A-403A-B287-B4F4FA9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-num-1">
            <a:extLst xmlns:a="http://schemas.openxmlformats.org/drawingml/2006/main">
              <a:ext uri="{FF2B5EF4-FFF2-40B4-BE49-F238E27FC236}">
                <a16:creationId xmlns:a16="http://schemas.microsoft.com/office/drawing/2014/main" id="{353C0AB1-73BB-4079-B689-7D8C519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-num-text-1">
            <a:extLst xmlns:a="http://schemas.openxmlformats.org/drawingml/2006/main">
              <a:ext uri="{FF2B5EF4-FFF2-40B4-BE49-F238E27FC236}">
                <a16:creationId xmlns:a16="http://schemas.microsoft.com/office/drawing/2014/main" id="{B8DC18CA-A4FD-4DBF-A325-62EDCE3F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-title-1">
            <a:extLst xmlns:a="http://schemas.openxmlformats.org/drawingml/2006/main">
              <a:ext uri="{FF2B5EF4-FFF2-40B4-BE49-F238E27FC236}">
                <a16:creationId xmlns:a16="http://schemas.microsoft.com/office/drawing/2014/main" id="{5F05EEBB-97DC-4CDA-AE37-FF3B80C8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Sensitive-data controls</a:t>
            </a:r>
          </a:p>
        </p:txBody>
      </p:sp>
      <p:sp>
        <p:nvSpPr>
          <p:cNvPr id="15" name="rec-body-1">
            <a:extLst xmlns:a="http://schemas.openxmlformats.org/drawingml/2006/main">
              <a:ext uri="{FF2B5EF4-FFF2-40B4-BE49-F238E27FC236}">
                <a16:creationId xmlns:a16="http://schemas.microsoft.com/office/drawing/2014/main" id="{7B80B771-1DA4-459D-9D44-20387AD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Restrict access, retention, and export of captured credentials, command logs, and session transcripts.</a:t>
            </a:r>
          </a:p>
        </p:txBody>
      </p:sp>
      <p:sp>
        <p:nvSpPr>
          <p:cNvPr id="16" name="rec-line-1">
            <a:extLst xmlns:a="http://schemas.openxmlformats.org/drawingml/2006/main">
              <a:ext uri="{FF2B5EF4-FFF2-40B4-BE49-F238E27FC236}">
                <a16:creationId xmlns:a16="http://schemas.microsoft.com/office/drawing/2014/main" id="{D7AA68A8-3815-4D36-B6C5-6D41210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-num-2">
            <a:extLst xmlns:a="http://schemas.openxmlformats.org/drawingml/2006/main">
              <a:ext uri="{FF2B5EF4-FFF2-40B4-BE49-F238E27FC236}">
                <a16:creationId xmlns:a16="http://schemas.microsoft.com/office/drawing/2014/main" id="{8C000330-52DB-4B63-9ACF-58F0563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-num-text-2">
            <a:extLst xmlns:a="http://schemas.openxmlformats.org/drawingml/2006/main">
              <a:ext uri="{FF2B5EF4-FFF2-40B4-BE49-F238E27FC236}">
                <a16:creationId xmlns:a16="http://schemas.microsoft.com/office/drawing/2014/main" id="{087FC2FC-A5DC-4A38-955C-FCB8D93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-title-2">
            <a:extLst xmlns:a="http://schemas.openxmlformats.org/drawingml/2006/main">
              <a:ext uri="{FF2B5EF4-FFF2-40B4-BE49-F238E27FC236}">
                <a16:creationId xmlns:a16="http://schemas.microsoft.com/office/drawing/2014/main" id="{5EC59FD6-59EA-4665-B7D5-078758C0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Behavior correlation</a:t>
            </a:r>
          </a:p>
        </p:txBody>
      </p:sp>
      <p:sp>
        <p:nvSpPr>
          <p:cNvPr id="20" name="rec-body-2">
            <a:extLst xmlns:a="http://schemas.openxmlformats.org/drawingml/2006/main">
              <a:ext uri="{FF2B5EF4-FFF2-40B4-BE49-F238E27FC236}">
                <a16:creationId xmlns:a16="http://schemas.microsoft.com/office/drawing/2014/main" id="{B44680AE-D150-4C3A-A486-C76CEB1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Link authentication success, command input, source reputation, and session identifiers into higher-confidence cases.</a:t>
            </a:r>
          </a:p>
        </p:txBody>
      </p:sp>
      <p:sp>
        <p:nvSpPr>
          <p:cNvPr id="21" name="rec-line-2">
            <a:extLst xmlns:a="http://schemas.openxmlformats.org/drawingml/2006/main">
              <a:ext uri="{FF2B5EF4-FFF2-40B4-BE49-F238E27FC236}">
                <a16:creationId xmlns:a16="http://schemas.microsoft.com/office/drawing/2014/main" id="{0075F3CC-AF20-4141-8A01-29B3921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-num-3">
            <a:extLst xmlns:a="http://schemas.openxmlformats.org/drawingml/2006/main">
              <a:ext uri="{FF2B5EF4-FFF2-40B4-BE49-F238E27FC236}">
                <a16:creationId xmlns:a16="http://schemas.microsoft.com/office/drawing/2014/main" id="{829B5B47-CBE8-420F-B213-D3927996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-num-text-3">
            <a:extLst xmlns:a="http://schemas.openxmlformats.org/drawingml/2006/main">
              <a:ext uri="{FF2B5EF4-FFF2-40B4-BE49-F238E27FC236}">
                <a16:creationId xmlns:a16="http://schemas.microsoft.com/office/drawing/2014/main" id="{268BF5D2-287F-4851-B209-51ED830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-title-3">
            <a:extLst xmlns:a="http://schemas.openxmlformats.org/drawingml/2006/main">
              <a:ext uri="{FF2B5EF4-FFF2-40B4-BE49-F238E27FC236}">
                <a16:creationId xmlns:a16="http://schemas.microsoft.com/office/drawing/2014/main" id="{D9ECCA97-2D58-403B-B2E1-D253A66E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C2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C2D4E"/>
                </a:solidFill>
                <a:latin typeface="Arial"/>
                <a:ea typeface="Arial"/>
                <a:cs typeface="Arial"/>
              </a:rPr>
              <a:t>Health monitoring</a:t>
            </a:r>
          </a:p>
        </p:txBody>
      </p:sp>
      <p:sp>
        <p:nvSpPr>
          <p:cNvPr id="25" name="rec-body-3">
            <a:extLst xmlns:a="http://schemas.openxmlformats.org/drawingml/2006/main">
              <a:ext uri="{FF2B5EF4-FFF2-40B4-BE49-F238E27FC236}">
                <a16:creationId xmlns:a16="http://schemas.microsoft.com/office/drawing/2014/main" id="{1B100479-D7F1-4B15-ADF0-43C4728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82433"/>
                </a:solidFill>
                <a:latin typeface="Arial"/>
                <a:ea typeface="Arial"/>
                <a:cs typeface="Arial"/>
              </a:rPr>
              <a:t>Alert on process failure, port closure, agent gaps, and missing log ingestion so silence is not misread as safety.</a:t>
            </a:r>
          </a:p>
        </p:txBody>
      </p:sp>
      <p:sp>
        <p:nvSpPr>
          <p:cNvPr id="26" name="decision">
            <a:extLst xmlns:a="http://schemas.openxmlformats.org/drawingml/2006/main">
              <a:ext uri="{FF2B5EF4-FFF2-40B4-BE49-F238E27FC236}">
                <a16:creationId xmlns:a16="http://schemas.microsoft.com/office/drawing/2014/main" id="{3E3D6020-D1FD-46D4-9DB9-25C92D6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705CB56D-3C80-4330-BD1A-47BC7F5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67A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67A52"/>
                </a:solidFill>
                <a:latin typeface="Arial"/>
                <a:ea typeface="Arial"/>
                <a:cs typeface="Arial"/>
              </a:rPr>
              <a:t>Decision request: approve a small pilot with network isolation, log-access controls, and health monitoring defined before exposure.</a:t>
            </a:r>
          </a:p>
        </p:txBody>
      </p:sp>
    </p:spTree>
    <p:extLst>
      <p:ext uri="{BB962C8B-B14F-4D97-AF65-F5344CB8AC3E}">
        <p14:creationId xmlns:p14="http://schemas.microsoft.com/office/powerpoint/2010/main" val="1416797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2026-08-26T21:40:57.3720000Z</dcterms:created>
  <dcterms:modified xsi:type="dcterms:W3CDTF">2026-08-26T21:40:57.3720000Z</dcterms:modified>
</coreProperties>
</file>